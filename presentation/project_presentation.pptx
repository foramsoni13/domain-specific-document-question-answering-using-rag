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9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spcAft>
                <a:spcPts val="1400"/>
              </a:spcAft>
              <a:defRPr sz="1200" b="1">
                <a:solidFill>
                  <a:srgbClr val="38BDF8"/>
                </a:solidFill>
                <a:latin typeface="Arial"/>
              </a:defRPr>
            </a:pPr>
            <a:r>
              <a:t>NLP CAPSTONE PROJECT • PROBLEM STATEMENT #9</a:t>
            </a:r>
          </a:p>
          <a:p>
            <a:pPr>
              <a:spcAft>
                <a:spcPts val="1400"/>
              </a:spcAft>
              <a:defRPr sz="3200" b="1">
                <a:solidFill>
                  <a:srgbClr val="FFFFFF"/>
                </a:solidFill>
                <a:latin typeface="Arial"/>
              </a:defRPr>
            </a:pPr>
            <a:r>
              <a:t>Domain-Specific Document Question Answering</a:t>
            </a:r>
            <a:br/>
            <a:r>
              <a:t>Using Retrieval-Augmented Generation (RAG)</a:t>
            </a:r>
          </a:p>
          <a:p>
            <a:pPr>
              <a:spcAft>
                <a:spcPts val="2800"/>
              </a:spcAft>
              <a:defRPr sz="1400">
                <a:solidFill>
                  <a:srgbClr val="CBD5E1"/>
                </a:solidFill>
                <a:latin typeface="Arial"/>
              </a:defRPr>
            </a:pPr>
            <a:r>
              <a:t>A Grounded Multi-Stage NLP Architecture Incorporating Page-Aware Preprocessing, Dense-Sparse Hybrid Retrieval, Neural Cross-Encoder Reranking, and Hallucination Refusal Guardrails.</a:t>
            </a:r>
          </a:p>
          <a:p>
            <a:pPr>
              <a:defRPr sz="1200">
                <a:solidFill>
                  <a:srgbClr val="94A3B8"/>
                </a:solidFill>
                <a:latin typeface="Arial"/>
              </a:defRPr>
            </a:pPr>
            <a:r>
              <a:t>Presented by: Project Team | Academic Year 2025-2026</a:t>
            </a:r>
            <a:br/>
            <a:r>
              <a:t>Course: Natural Language Processing &amp; Deep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1: PROJECT METADATA</a:t>
            </a:r>
          </a:p>
          <a:p>
            <a:pPr>
              <a:spcAft>
                <a:spcPts val="200"/>
              </a:spcAft>
              <a:defRPr sz="2200" b="1">
                <a:solidFill>
                  <a:srgbClr val="1E293B"/>
                </a:solidFill>
                <a:latin typeface="Arial"/>
              </a:defRPr>
            </a:pPr>
            <a:r>
              <a:t>Team Members &amp; Individual Contributions</a:t>
            </a:r>
          </a:p>
          <a:p>
            <a:pPr>
              <a:defRPr sz="1200">
                <a:solidFill>
                  <a:srgbClr val="64748B"/>
                </a:solidFill>
                <a:latin typeface="Arial"/>
              </a:defRPr>
            </a:pPr>
            <a:r>
              <a:t>Prepared across 4 specialized technical ownership pillars</a:t>
            </a:r>
          </a:p>
        </p:txBody>
      </p:sp>
      <p:sp>
        <p:nvSpPr>
          <p:cNvPr id="3" name="Rounded Rectangle 2"/>
          <p:cNvSpPr/>
          <p:nvPr/>
        </p:nvSpPr>
        <p:spPr>
          <a:xfrm>
            <a:off x="7315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Member 1: Data &amp; Pipeline Architect</a:t>
            </a:r>
          </a:p>
        </p:txBody>
      </p:sp>
      <p:sp>
        <p:nvSpPr>
          <p:cNvPr id="6" name="TextBox 5"/>
          <p:cNvSpPr txBox="1"/>
          <p:nvPr/>
        </p:nvSpPr>
        <p:spPr>
          <a:xfrm>
            <a:off x="914400" y="2148840"/>
            <a:ext cx="4846320" cy="1554480"/>
          </a:xfrm>
          <a:prstGeom prst="rect">
            <a:avLst/>
          </a:prstGeom>
          <a:noFill/>
        </p:spPr>
        <p:txBody>
          <a:bodyPr wrap="square">
            <a:spAutoFit/>
          </a:bodyPr>
          <a:lstStyle/>
          <a:p>
            <a:pPr>
              <a:spcAft>
                <a:spcPts val="400"/>
              </a:spcAft>
              <a:defRPr sz="1100" b="1">
                <a:solidFill>
                  <a:srgbClr val="1D4ED8"/>
                </a:solidFill>
                <a:latin typeface="Arial"/>
              </a:defRPr>
            </a:pPr>
            <a:r>
              <a:t>Primary Domain: Document Preprocessing &amp; Ingestion</a:t>
            </a:r>
          </a:p>
          <a:p>
            <a:pPr>
              <a:spcAft>
                <a:spcPts val="200"/>
              </a:spcAft>
              <a:defRPr sz="1000">
                <a:solidFill>
                  <a:srgbClr val="1E293B"/>
                </a:solidFill>
                <a:latin typeface="Arial"/>
              </a:defRPr>
            </a:pPr>
            <a:r>
              <a:t>• Engineered multi-format document parser (PDF, DOCX, TXT).</a:t>
            </a:r>
          </a:p>
          <a:p>
            <a:pPr>
              <a:spcAft>
                <a:spcPts val="200"/>
              </a:spcAft>
              <a:defRPr sz="1000">
                <a:solidFill>
                  <a:srgbClr val="1E293B"/>
                </a:solidFill>
                <a:latin typeface="Arial"/>
              </a:defRPr>
            </a:pPr>
            <a:r>
              <a:t>• Implemented page-aware metadata extraction and normalization.</a:t>
            </a:r>
          </a:p>
          <a:p>
            <a:pPr>
              <a:spcAft>
                <a:spcPts val="200"/>
              </a:spcAft>
              <a:defRPr sz="1000">
                <a:solidFill>
                  <a:srgbClr val="1E293B"/>
                </a:solidFill>
                <a:latin typeface="Arial"/>
              </a:defRPr>
            </a:pPr>
            <a:r>
              <a:t>• Designed Recursive Character Chunker with boundary overlap.</a:t>
            </a:r>
          </a:p>
          <a:p>
            <a:pPr>
              <a:spcAft>
                <a:spcPts val="200"/>
              </a:spcAft>
              <a:defRPr sz="1000">
                <a:solidFill>
                  <a:srgbClr val="1E293B"/>
                </a:solidFill>
                <a:latin typeface="Arial"/>
              </a:defRPr>
            </a:pPr>
            <a:r>
              <a:t>• Curated the multi-domain benchmark corpora.</a:t>
            </a:r>
          </a:p>
        </p:txBody>
      </p:sp>
      <p:sp>
        <p:nvSpPr>
          <p:cNvPr id="7" name="Rounded Rectangle 6"/>
          <p:cNvSpPr/>
          <p:nvPr/>
        </p:nvSpPr>
        <p:spPr>
          <a:xfrm>
            <a:off x="62179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Member 2: Retrieval &amp; Vector Systems</a:t>
            </a:r>
          </a:p>
        </p:txBody>
      </p:sp>
      <p:sp>
        <p:nvSpPr>
          <p:cNvPr id="10" name="TextBox 9"/>
          <p:cNvSpPr txBox="1"/>
          <p:nvPr/>
        </p:nvSpPr>
        <p:spPr>
          <a:xfrm>
            <a:off x="6400800" y="2148840"/>
            <a:ext cx="4846320" cy="1554480"/>
          </a:xfrm>
          <a:prstGeom prst="rect">
            <a:avLst/>
          </a:prstGeom>
          <a:noFill/>
        </p:spPr>
        <p:txBody>
          <a:bodyPr wrap="square">
            <a:spAutoFit/>
          </a:bodyPr>
          <a:lstStyle/>
          <a:p>
            <a:pPr>
              <a:spcAft>
                <a:spcPts val="400"/>
              </a:spcAft>
              <a:defRPr sz="1100" b="1">
                <a:solidFill>
                  <a:srgbClr val="1D4ED8"/>
                </a:solidFill>
                <a:latin typeface="Arial"/>
              </a:defRPr>
            </a:pPr>
            <a:r>
              <a:t>Primary Domain: Embeddings &amp; Hybrid Search</a:t>
            </a:r>
          </a:p>
          <a:p>
            <a:pPr>
              <a:spcAft>
                <a:spcPts val="200"/>
              </a:spcAft>
              <a:defRPr sz="1000">
                <a:solidFill>
                  <a:srgbClr val="1E293B"/>
                </a:solidFill>
                <a:latin typeface="Arial"/>
              </a:defRPr>
            </a:pPr>
            <a:r>
              <a:t>• Configured SentenceTransformer bi-encoder (all-MiniLM-L6-v2).</a:t>
            </a:r>
          </a:p>
          <a:p>
            <a:pPr>
              <a:spcAft>
                <a:spcPts val="200"/>
              </a:spcAft>
              <a:defRPr sz="1000">
                <a:solidFill>
                  <a:srgbClr val="1E293B"/>
                </a:solidFill>
                <a:latin typeface="Arial"/>
              </a:defRPr>
            </a:pPr>
            <a:r>
              <a:t>• Implemented FAISS IndexFlatIP vector indexing with L2 normalization.</a:t>
            </a:r>
          </a:p>
          <a:p>
            <a:pPr>
              <a:spcAft>
                <a:spcPts val="200"/>
              </a:spcAft>
              <a:defRPr sz="1000">
                <a:solidFill>
                  <a:srgbClr val="1E293B"/>
                </a:solidFill>
                <a:latin typeface="Arial"/>
              </a:defRPr>
            </a:pPr>
            <a:r>
              <a:t>• Engineered BM25Okapi sparse keyword retriever.</a:t>
            </a:r>
          </a:p>
          <a:p>
            <a:pPr>
              <a:spcAft>
                <a:spcPts val="200"/>
              </a:spcAft>
              <a:defRPr sz="1000">
                <a:solidFill>
                  <a:srgbClr val="1E293B"/>
                </a:solidFill>
                <a:latin typeface="Arial"/>
              </a:defRPr>
            </a:pPr>
            <a:r>
              <a:t>• Developed Reciprocal Rank Fusion (RRF) hybrid scoring engine.</a:t>
            </a:r>
          </a:p>
        </p:txBody>
      </p:sp>
      <p:sp>
        <p:nvSpPr>
          <p:cNvPr id="11" name="Rounded Rectangle 10"/>
          <p:cNvSpPr/>
          <p:nvPr/>
        </p:nvSpPr>
        <p:spPr>
          <a:xfrm>
            <a:off x="731520" y="402336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96512"/>
            <a:ext cx="4846320" cy="365760"/>
          </a:xfrm>
          <a:prstGeom prst="rect">
            <a:avLst/>
          </a:prstGeom>
          <a:noFill/>
        </p:spPr>
        <p:txBody>
          <a:bodyPr wrap="square">
            <a:spAutoFit/>
          </a:bodyPr>
          <a:lstStyle/>
          <a:p>
            <a:pPr>
              <a:defRPr sz="1400" b="1">
                <a:solidFill>
                  <a:srgbClr val="1E293B"/>
                </a:solidFill>
                <a:latin typeface="Arial"/>
              </a:defRPr>
            </a:pPr>
            <a:r>
              <a:t>Member 3: Reranker &amp; Guardrail Lead</a:t>
            </a:r>
          </a:p>
        </p:txBody>
      </p:sp>
      <p:sp>
        <p:nvSpPr>
          <p:cNvPr id="14" name="TextBox 13"/>
          <p:cNvSpPr txBox="1"/>
          <p:nvPr/>
        </p:nvSpPr>
        <p:spPr>
          <a:xfrm>
            <a:off x="914400" y="4526280"/>
            <a:ext cx="4846320" cy="1554480"/>
          </a:xfrm>
          <a:prstGeom prst="rect">
            <a:avLst/>
          </a:prstGeom>
          <a:noFill/>
        </p:spPr>
        <p:txBody>
          <a:bodyPr wrap="square">
            <a:spAutoFit/>
          </a:bodyPr>
          <a:lstStyle/>
          <a:p>
            <a:pPr>
              <a:spcAft>
                <a:spcPts val="400"/>
              </a:spcAft>
              <a:defRPr sz="1100" b="1">
                <a:solidFill>
                  <a:srgbClr val="1D4ED8"/>
                </a:solidFill>
                <a:latin typeface="Arial"/>
              </a:defRPr>
            </a:pPr>
            <a:r>
              <a:t>Primary Domain: Neural Reranking &amp; Hallucination Guardrails</a:t>
            </a:r>
          </a:p>
          <a:p>
            <a:pPr>
              <a:spcAft>
                <a:spcPts val="200"/>
              </a:spcAft>
              <a:defRPr sz="1000">
                <a:solidFill>
                  <a:srgbClr val="1E293B"/>
                </a:solidFill>
                <a:latin typeface="Arial"/>
              </a:defRPr>
            </a:pPr>
            <a:r>
              <a:t>• Integrated Cross-Encoder (ms-marco-MiniLM-L-6-v2) for deep reranking.</a:t>
            </a:r>
          </a:p>
          <a:p>
            <a:pPr>
              <a:spcAft>
                <a:spcPts val="200"/>
              </a:spcAft>
              <a:defRPr sz="1000">
                <a:solidFill>
                  <a:srgbClr val="1E293B"/>
                </a:solidFill>
                <a:latin typeface="Arial"/>
              </a:defRPr>
            </a:pPr>
            <a:r>
              <a:t>• Formulated calibrated sigmoid scoring and confidence thresholds.</a:t>
            </a:r>
          </a:p>
          <a:p>
            <a:pPr>
              <a:spcAft>
                <a:spcPts val="200"/>
              </a:spcAft>
              <a:defRPr sz="1000">
                <a:solidFill>
                  <a:srgbClr val="1E293B"/>
                </a:solidFill>
                <a:latin typeface="Arial"/>
              </a:defRPr>
            </a:pPr>
            <a:r>
              <a:t>• Built out-of-domain and unanswerable query refusal guardrails.</a:t>
            </a:r>
          </a:p>
          <a:p>
            <a:pPr>
              <a:spcAft>
                <a:spcPts val="200"/>
              </a:spcAft>
              <a:defRPr sz="1000">
                <a:solidFill>
                  <a:srgbClr val="1E293B"/>
                </a:solidFill>
                <a:latin typeface="Arial"/>
              </a:defRPr>
            </a:pPr>
            <a:r>
              <a:t>• Designed grounded citation and document-page attribution logic.</a:t>
            </a:r>
          </a:p>
        </p:txBody>
      </p:sp>
      <p:sp>
        <p:nvSpPr>
          <p:cNvPr id="15" name="Rounded Rectangle 14"/>
          <p:cNvSpPr/>
          <p:nvPr/>
        </p:nvSpPr>
        <p:spPr>
          <a:xfrm>
            <a:off x="6217920" y="402336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96512"/>
            <a:ext cx="4846320" cy="365760"/>
          </a:xfrm>
          <a:prstGeom prst="rect">
            <a:avLst/>
          </a:prstGeom>
          <a:noFill/>
        </p:spPr>
        <p:txBody>
          <a:bodyPr wrap="square">
            <a:spAutoFit/>
          </a:bodyPr>
          <a:lstStyle/>
          <a:p>
            <a:pPr>
              <a:defRPr sz="1400" b="1">
                <a:solidFill>
                  <a:srgbClr val="1E293B"/>
                </a:solidFill>
                <a:latin typeface="Arial"/>
              </a:defRPr>
            </a:pPr>
            <a:r>
              <a:t>Member 4: Evaluation &amp; UI Engineering</a:t>
            </a:r>
          </a:p>
        </p:txBody>
      </p:sp>
      <p:sp>
        <p:nvSpPr>
          <p:cNvPr id="18" name="TextBox 17"/>
          <p:cNvSpPr txBox="1"/>
          <p:nvPr/>
        </p:nvSpPr>
        <p:spPr>
          <a:xfrm>
            <a:off x="6400800" y="4526280"/>
            <a:ext cx="4846320" cy="1554480"/>
          </a:xfrm>
          <a:prstGeom prst="rect">
            <a:avLst/>
          </a:prstGeom>
          <a:noFill/>
        </p:spPr>
        <p:txBody>
          <a:bodyPr wrap="square">
            <a:spAutoFit/>
          </a:bodyPr>
          <a:lstStyle/>
          <a:p>
            <a:pPr>
              <a:spcAft>
                <a:spcPts val="400"/>
              </a:spcAft>
              <a:defRPr sz="1100" b="1">
                <a:solidFill>
                  <a:srgbClr val="1D4ED8"/>
                </a:solidFill>
                <a:latin typeface="Arial"/>
              </a:defRPr>
            </a:pPr>
            <a:r>
              <a:t>Primary Domain: Full-Stack Demo &amp; Quantitative Benchmarks</a:t>
            </a:r>
          </a:p>
          <a:p>
            <a:pPr>
              <a:spcAft>
                <a:spcPts val="200"/>
              </a:spcAft>
              <a:defRPr sz="1000">
                <a:solidFill>
                  <a:srgbClr val="1E293B"/>
                </a:solidFill>
                <a:latin typeface="Arial"/>
              </a:defRPr>
            </a:pPr>
            <a:r>
              <a:t>• Engineered the interactive Streamlit Web Application.</a:t>
            </a:r>
          </a:p>
          <a:p>
            <a:pPr>
              <a:spcAft>
                <a:spcPts val="200"/>
              </a:spcAft>
              <a:defRPr sz="1000">
                <a:solidFill>
                  <a:srgbClr val="1E293B"/>
                </a:solidFill>
                <a:latin typeface="Arial"/>
              </a:defRPr>
            </a:pPr>
            <a:r>
              <a:t>• Constructed the standardized 15-query evaluation benchmark suite.</a:t>
            </a:r>
          </a:p>
          <a:p>
            <a:pPr>
              <a:spcAft>
                <a:spcPts val="200"/>
              </a:spcAft>
              <a:defRPr sz="1000">
                <a:solidFill>
                  <a:srgbClr val="1E293B"/>
                </a:solidFill>
                <a:latin typeface="Arial"/>
              </a:defRPr>
            </a:pPr>
            <a:r>
              <a:t>• Conducted ablation study (Hit@K, MRR, Refusal Accuracy, Latency).</a:t>
            </a:r>
          </a:p>
          <a:p>
            <a:pPr>
              <a:spcAft>
                <a:spcPts val="200"/>
              </a:spcAft>
              <a:defRPr sz="1000">
                <a:solidFill>
                  <a:srgbClr val="1E293B"/>
                </a:solidFill>
                <a:latin typeface="Arial"/>
              </a:defRPr>
            </a:pPr>
            <a:r>
              <a:t>• Authored repository documentation and technical presentation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2: PROBLEM STATEMENT &amp; OBJECTIVES</a:t>
            </a:r>
          </a:p>
          <a:p>
            <a:pPr>
              <a:spcAft>
                <a:spcPts val="200"/>
              </a:spcAft>
              <a:defRPr sz="2200" b="1">
                <a:solidFill>
                  <a:srgbClr val="1E293B"/>
                </a:solidFill>
                <a:latin typeface="Arial"/>
              </a:defRPr>
            </a:pPr>
            <a:r>
              <a:t>The Problem: Navigating Lengthy Domain Documents</a:t>
            </a:r>
          </a:p>
          <a:p>
            <a:pPr>
              <a:defRPr sz="1200">
                <a:solidFill>
                  <a:srgbClr val="64748B"/>
                </a:solidFill>
                <a:latin typeface="Arial"/>
              </a:defRPr>
            </a:pPr>
            <a:r>
              <a:t>Information friction in university regulations, corporate HR policies, and municipal circulars</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Real-World Inefficiencies &amp; Pain Points</a:t>
            </a:r>
          </a:p>
        </p:txBody>
      </p:sp>
      <p:sp>
        <p:nvSpPr>
          <p:cNvPr id="6" name="TextBox 5"/>
          <p:cNvSpPr txBox="1"/>
          <p:nvPr/>
        </p:nvSpPr>
        <p:spPr>
          <a:xfrm>
            <a:off x="914400" y="2194560"/>
            <a:ext cx="4846320" cy="3657600"/>
          </a:xfrm>
          <a:prstGeom prst="rect">
            <a:avLst/>
          </a:prstGeom>
          <a:noFill/>
        </p:spPr>
        <p:txBody>
          <a:bodyPr wrap="square">
            <a:spAutoFit/>
          </a:bodyPr>
          <a:lstStyle/>
          <a:p>
            <a:pPr>
              <a:spcAft>
                <a:spcPts val="100"/>
              </a:spcAft>
              <a:defRPr sz="1150" b="1">
                <a:solidFill>
                  <a:srgbClr val="1E293B"/>
                </a:solidFill>
                <a:latin typeface="Arial"/>
              </a:defRPr>
            </a:pPr>
            <a:r>
              <a:t>• Information Overload: </a:t>
            </a:r>
          </a:p>
          <a:p>
            <a:pPr>
              <a:spcAft>
                <a:spcPts val="600"/>
              </a:spcAft>
              <a:defRPr sz="1050">
                <a:solidFill>
                  <a:srgbClr val="64748B"/>
                </a:solidFill>
                <a:latin typeface="Arial"/>
              </a:defRPr>
            </a:pPr>
            <a:r>
              <a:t>  Institutional documents often span 50 to 300+ pages of dense, complex legal and regulatory prose.</a:t>
            </a:r>
          </a:p>
          <a:p>
            <a:pPr>
              <a:spcAft>
                <a:spcPts val="100"/>
              </a:spcAft>
              <a:defRPr sz="1150" b="1">
                <a:solidFill>
                  <a:srgbClr val="1E293B"/>
                </a:solidFill>
                <a:latin typeface="Arial"/>
              </a:defRPr>
            </a:pPr>
            <a:r>
              <a:t>• Keyword Search Limitations: </a:t>
            </a:r>
          </a:p>
          <a:p>
            <a:pPr>
              <a:spcAft>
                <a:spcPts val="600"/>
              </a:spcAft>
              <a:defRPr sz="1050">
                <a:solidFill>
                  <a:srgbClr val="64748B"/>
                </a:solidFill>
                <a:latin typeface="Arial"/>
              </a:defRPr>
            </a:pPr>
            <a:r>
              <a:t>  Traditional Ctrl+F fails when users search with natural conceptual questions rather than exact policy phrasing.</a:t>
            </a:r>
          </a:p>
          <a:p>
            <a:pPr>
              <a:spcAft>
                <a:spcPts val="100"/>
              </a:spcAft>
              <a:defRPr sz="1150" b="1">
                <a:solidFill>
                  <a:srgbClr val="1E293B"/>
                </a:solidFill>
                <a:latin typeface="Arial"/>
              </a:defRPr>
            </a:pPr>
            <a:r>
              <a:t>• High Cost of Errors: </a:t>
            </a:r>
          </a:p>
          <a:p>
            <a:pPr>
              <a:spcAft>
                <a:spcPts val="600"/>
              </a:spcAft>
              <a:defRPr sz="1050">
                <a:solidFill>
                  <a:srgbClr val="64748B"/>
                </a:solidFill>
                <a:latin typeface="Arial"/>
              </a:defRPr>
            </a:pPr>
            <a:r>
              <a:t>  Misinterpreting attendance rules, leave entitlements, or building permit turnaround times leads to severe academic, financial, or legal consequences.</a:t>
            </a:r>
          </a:p>
          <a:p>
            <a:pPr>
              <a:spcAft>
                <a:spcPts val="100"/>
              </a:spcAft>
              <a:defRPr sz="1150" b="1">
                <a:solidFill>
                  <a:srgbClr val="1E293B"/>
                </a:solidFill>
                <a:latin typeface="Arial"/>
              </a:defRPr>
            </a:pPr>
            <a:r>
              <a:t>• Hallucination Vulnerability: </a:t>
            </a:r>
          </a:p>
          <a:p>
            <a:pPr>
              <a:spcAft>
                <a:spcPts val="600"/>
              </a:spcAft>
              <a:defRPr sz="1050">
                <a:solidFill>
                  <a:srgbClr val="64748B"/>
                </a:solidFill>
                <a:latin typeface="Arial"/>
              </a:defRPr>
            </a:pPr>
            <a:r>
              <a:t>  Standard generative AI models hallucinate plausible-sounding rules not grounded in the institution's actual codified text.</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Technical NLP Challenges Addressed</a:t>
            </a:r>
          </a:p>
        </p:txBody>
      </p:sp>
      <p:sp>
        <p:nvSpPr>
          <p:cNvPr id="10" name="TextBox 9"/>
          <p:cNvSpPr txBox="1"/>
          <p:nvPr/>
        </p:nvSpPr>
        <p:spPr>
          <a:xfrm>
            <a:off x="6400800" y="2194560"/>
            <a:ext cx="4846320" cy="3657600"/>
          </a:xfrm>
          <a:prstGeom prst="rect">
            <a:avLst/>
          </a:prstGeom>
          <a:noFill/>
        </p:spPr>
        <p:txBody>
          <a:bodyPr wrap="square">
            <a:spAutoFit/>
          </a:bodyPr>
          <a:lstStyle/>
          <a:p>
            <a:pPr>
              <a:spcAft>
                <a:spcPts val="100"/>
              </a:spcAft>
              <a:defRPr sz="1150" b="1">
                <a:solidFill>
                  <a:srgbClr val="1E293B"/>
                </a:solidFill>
                <a:latin typeface="Arial"/>
              </a:defRPr>
            </a:pPr>
            <a:r>
              <a:t>• Page-Level Traceability: </a:t>
            </a:r>
          </a:p>
          <a:p>
            <a:pPr>
              <a:spcAft>
                <a:spcPts val="600"/>
              </a:spcAft>
              <a:defRPr sz="1050">
                <a:solidFill>
                  <a:srgbClr val="64748B"/>
                </a:solidFill>
                <a:latin typeface="Arial"/>
              </a:defRPr>
            </a:pPr>
            <a:r>
              <a:t>  Responses must attribute exact page numbers and document IDs for human auditability.</a:t>
            </a:r>
          </a:p>
          <a:p>
            <a:pPr>
              <a:spcAft>
                <a:spcPts val="100"/>
              </a:spcAft>
              <a:defRPr sz="1150" b="1">
                <a:solidFill>
                  <a:srgbClr val="1E293B"/>
                </a:solidFill>
                <a:latin typeface="Arial"/>
              </a:defRPr>
            </a:pPr>
            <a:r>
              <a:t>• Lexical vs. Semantic Gap: </a:t>
            </a:r>
          </a:p>
          <a:p>
            <a:pPr>
              <a:spcAft>
                <a:spcPts val="600"/>
              </a:spcAft>
              <a:defRPr sz="1050">
                <a:solidFill>
                  <a:srgbClr val="64748B"/>
                </a:solidFill>
                <a:latin typeface="Arial"/>
              </a:defRPr>
            </a:pPr>
            <a:r>
              <a:t>  Needs both semantic understanding (synonyms) and exact alphanumeric matching (rule codes like 'HR-POL-2025', 'Level 2', '75%').</a:t>
            </a:r>
          </a:p>
          <a:p>
            <a:pPr>
              <a:spcAft>
                <a:spcPts val="100"/>
              </a:spcAft>
              <a:defRPr sz="1150" b="1">
                <a:solidFill>
                  <a:srgbClr val="1E293B"/>
                </a:solidFill>
                <a:latin typeface="Arial"/>
              </a:defRPr>
            </a:pPr>
            <a:r>
              <a:t>• Cross-Attention Precision: </a:t>
            </a:r>
          </a:p>
          <a:p>
            <a:pPr>
              <a:spcAft>
                <a:spcPts val="600"/>
              </a:spcAft>
              <a:defRPr sz="1050">
                <a:solidFill>
                  <a:srgbClr val="64748B"/>
                </a:solidFill>
                <a:latin typeface="Arial"/>
              </a:defRPr>
            </a:pPr>
            <a:r>
              <a:t>  Bi-encoders retrieve broad candidates, but require Cross-Encoder joint scoring to elevate the exact clause.</a:t>
            </a:r>
          </a:p>
          <a:p>
            <a:pPr>
              <a:spcAft>
                <a:spcPts val="100"/>
              </a:spcAft>
              <a:defRPr sz="1150" b="1">
                <a:solidFill>
                  <a:srgbClr val="1E293B"/>
                </a:solidFill>
                <a:latin typeface="Arial"/>
              </a:defRPr>
            </a:pPr>
            <a:r>
              <a:t>• Out-of-Domain Refusal: </a:t>
            </a:r>
          </a:p>
          <a:p>
            <a:pPr>
              <a:spcAft>
                <a:spcPts val="600"/>
              </a:spcAft>
              <a:defRPr sz="1050">
                <a:solidFill>
                  <a:srgbClr val="64748B"/>
                </a:solidFill>
                <a:latin typeface="Arial"/>
              </a:defRPr>
            </a:pPr>
            <a:r>
              <a:t>  The system must reliably decline unanswerable or out-of-scope questions instead of guessing.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2: PROBLEM STATEMENT &amp; OBJECTIVES</a:t>
            </a:r>
          </a:p>
          <a:p>
            <a:pPr>
              <a:spcAft>
                <a:spcPts val="200"/>
              </a:spcAft>
              <a:defRPr sz="2200" b="1">
                <a:solidFill>
                  <a:srgbClr val="1E293B"/>
                </a:solidFill>
                <a:latin typeface="Arial"/>
              </a:defRPr>
            </a:pPr>
            <a:r>
              <a:t>Project Objectives &amp; Key Success Criteria</a:t>
            </a:r>
          </a:p>
          <a:p>
            <a:pPr>
              <a:defRPr sz="1200">
                <a:solidFill>
                  <a:srgbClr val="64748B"/>
                </a:solidFill>
                <a:latin typeface="Arial"/>
              </a:defRPr>
            </a:pPr>
            <a:r>
              <a:t>Quantitative targets and functional requirements for the RAG system</a:t>
            </a:r>
          </a:p>
        </p:txBody>
      </p:sp>
      <p:sp>
        <p:nvSpPr>
          <p:cNvPr id="3" name="Rounded Rectangle 2"/>
          <p:cNvSpPr/>
          <p:nvPr/>
        </p:nvSpPr>
        <p:spPr>
          <a:xfrm>
            <a:off x="7315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Objective 1: Page-Aware Ingestion &amp; Chunking</a:t>
            </a:r>
          </a:p>
        </p:txBody>
      </p:sp>
      <p:sp>
        <p:nvSpPr>
          <p:cNvPr id="6" name="TextBox 5"/>
          <p:cNvSpPr txBox="1"/>
          <p:nvPr/>
        </p:nvSpPr>
        <p:spPr>
          <a:xfrm>
            <a:off x="914400" y="2194560"/>
            <a:ext cx="4846320" cy="1463040"/>
          </a:xfrm>
          <a:prstGeom prst="rect">
            <a:avLst/>
          </a:prstGeom>
          <a:noFill/>
        </p:spPr>
        <p:txBody>
          <a:bodyPr wrap="square">
            <a:spAutoFit/>
          </a:bodyPr>
          <a:lstStyle/>
          <a:p>
            <a:pPr>
              <a:spcAft>
                <a:spcPts val="300"/>
              </a:spcAft>
              <a:defRPr sz="1050">
                <a:solidFill>
                  <a:srgbClr val="1E293B"/>
                </a:solidFill>
                <a:latin typeface="Arial"/>
              </a:defRPr>
            </a:pPr>
            <a:r>
              <a:t>✔ Parse PDF, DOCX, and TXT documents while tracking exact page boundaries.</a:t>
            </a:r>
          </a:p>
          <a:p>
            <a:pPr>
              <a:spcAft>
                <a:spcPts val="300"/>
              </a:spcAft>
              <a:defRPr sz="1050">
                <a:solidFill>
                  <a:srgbClr val="1E293B"/>
                </a:solidFill>
                <a:latin typeface="Arial"/>
              </a:defRPr>
            </a:pPr>
            <a:r>
              <a:t>✔ Implement recursive character chunking with 100-character boundary overlap.</a:t>
            </a:r>
          </a:p>
          <a:p>
            <a:pPr>
              <a:spcAft>
                <a:spcPts val="300"/>
              </a:spcAft>
              <a:defRPr sz="1050">
                <a:solidFill>
                  <a:srgbClr val="1E293B"/>
                </a:solidFill>
                <a:latin typeface="Arial"/>
              </a:defRPr>
            </a:pPr>
            <a:r>
              <a:t>✔ Retain document provenance metadata on every indexed text chunk.</a:t>
            </a:r>
          </a:p>
        </p:txBody>
      </p:sp>
      <p:sp>
        <p:nvSpPr>
          <p:cNvPr id="7" name="Rounded Rectangle 6"/>
          <p:cNvSpPr/>
          <p:nvPr/>
        </p:nvSpPr>
        <p:spPr>
          <a:xfrm>
            <a:off x="62179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Objective 2: Hybrid Retrieval &amp; Neural Reranking</a:t>
            </a:r>
          </a:p>
        </p:txBody>
      </p:sp>
      <p:sp>
        <p:nvSpPr>
          <p:cNvPr id="10" name="TextBox 9"/>
          <p:cNvSpPr txBox="1"/>
          <p:nvPr/>
        </p:nvSpPr>
        <p:spPr>
          <a:xfrm>
            <a:off x="6400800" y="2194560"/>
            <a:ext cx="4846320" cy="1463040"/>
          </a:xfrm>
          <a:prstGeom prst="rect">
            <a:avLst/>
          </a:prstGeom>
          <a:noFill/>
        </p:spPr>
        <p:txBody>
          <a:bodyPr wrap="square">
            <a:spAutoFit/>
          </a:bodyPr>
          <a:lstStyle/>
          <a:p>
            <a:pPr>
              <a:spcAft>
                <a:spcPts val="300"/>
              </a:spcAft>
              <a:defRPr sz="1050">
                <a:solidFill>
                  <a:srgbClr val="1E293B"/>
                </a:solidFill>
                <a:latin typeface="Arial"/>
              </a:defRPr>
            </a:pPr>
            <a:r>
              <a:t>✔ Fuse dense semantic search (FAISS IndexFlatIP) with sparse lexical search (BM25Okapi).</a:t>
            </a:r>
          </a:p>
          <a:p>
            <a:pPr>
              <a:spcAft>
                <a:spcPts val="300"/>
              </a:spcAft>
              <a:defRPr sz="1050">
                <a:solidFill>
                  <a:srgbClr val="1E293B"/>
                </a:solidFill>
                <a:latin typeface="Arial"/>
              </a:defRPr>
            </a:pPr>
            <a:r>
              <a:t>✔ Apply Reciprocal Rank Fusion (RRF) to merge candidate pools.</a:t>
            </a:r>
          </a:p>
          <a:p>
            <a:pPr>
              <a:spcAft>
                <a:spcPts val="300"/>
              </a:spcAft>
              <a:defRPr sz="1050">
                <a:solidFill>
                  <a:srgbClr val="1E293B"/>
                </a:solidFill>
                <a:latin typeface="Arial"/>
              </a:defRPr>
            </a:pPr>
            <a:r>
              <a:t>✔ Deploy Cross-Encoder ms-marco-MiniLM-L-6-v2 for joint attention reranking.</a:t>
            </a:r>
          </a:p>
        </p:txBody>
      </p:sp>
      <p:sp>
        <p:nvSpPr>
          <p:cNvPr id="11" name="Rounded Rectangle 10"/>
          <p:cNvSpPr/>
          <p:nvPr/>
        </p:nvSpPr>
        <p:spPr>
          <a:xfrm>
            <a:off x="731520" y="402336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96512"/>
            <a:ext cx="4846320" cy="365760"/>
          </a:xfrm>
          <a:prstGeom prst="rect">
            <a:avLst/>
          </a:prstGeom>
          <a:noFill/>
        </p:spPr>
        <p:txBody>
          <a:bodyPr wrap="square">
            <a:spAutoFit/>
          </a:bodyPr>
          <a:lstStyle/>
          <a:p>
            <a:pPr>
              <a:defRPr sz="1400" b="1">
                <a:solidFill>
                  <a:srgbClr val="1E293B"/>
                </a:solidFill>
                <a:latin typeface="Arial"/>
              </a:defRPr>
            </a:pPr>
            <a:r>
              <a:t>Objective 3: Grounded Answers &amp; Traceable Citations</a:t>
            </a:r>
          </a:p>
        </p:txBody>
      </p:sp>
      <p:sp>
        <p:nvSpPr>
          <p:cNvPr id="14" name="TextBox 13"/>
          <p:cNvSpPr txBox="1"/>
          <p:nvPr/>
        </p:nvSpPr>
        <p:spPr>
          <a:xfrm>
            <a:off x="914400" y="4572000"/>
            <a:ext cx="4846320" cy="1463040"/>
          </a:xfrm>
          <a:prstGeom prst="rect">
            <a:avLst/>
          </a:prstGeom>
          <a:noFill/>
        </p:spPr>
        <p:txBody>
          <a:bodyPr wrap="square">
            <a:spAutoFit/>
          </a:bodyPr>
          <a:lstStyle/>
          <a:p>
            <a:pPr>
              <a:spcAft>
                <a:spcPts val="300"/>
              </a:spcAft>
              <a:defRPr sz="1050">
                <a:solidFill>
                  <a:srgbClr val="1E293B"/>
                </a:solidFill>
                <a:latin typeface="Arial"/>
              </a:defRPr>
            </a:pPr>
            <a:r>
              <a:t>✔ Synthesize precise answers extracted strictly from retrieved context passages.</a:t>
            </a:r>
          </a:p>
          <a:p>
            <a:pPr>
              <a:spcAft>
                <a:spcPts val="300"/>
              </a:spcAft>
              <a:defRPr sz="1050">
                <a:solidFill>
                  <a:srgbClr val="1E293B"/>
                </a:solidFill>
                <a:latin typeface="Arial"/>
              </a:defRPr>
            </a:pPr>
            <a:r>
              <a:t>✔ Attach explicit citations: [Source: Document.pdf | Page: X | Confidence: Score].</a:t>
            </a:r>
          </a:p>
          <a:p>
            <a:pPr>
              <a:spcAft>
                <a:spcPts val="300"/>
              </a:spcAft>
              <a:defRPr sz="1050">
                <a:solidFill>
                  <a:srgbClr val="1E293B"/>
                </a:solidFill>
                <a:latin typeface="Arial"/>
              </a:defRPr>
            </a:pPr>
            <a:r>
              <a:t>✔ Eliminate ungrounded assertions and maintain 100% factual fidelity.</a:t>
            </a:r>
          </a:p>
        </p:txBody>
      </p:sp>
      <p:sp>
        <p:nvSpPr>
          <p:cNvPr id="15" name="Rounded Rectangle 14"/>
          <p:cNvSpPr/>
          <p:nvPr/>
        </p:nvSpPr>
        <p:spPr>
          <a:xfrm>
            <a:off x="6217920" y="402336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96512"/>
            <a:ext cx="4846320" cy="365760"/>
          </a:xfrm>
          <a:prstGeom prst="rect">
            <a:avLst/>
          </a:prstGeom>
          <a:noFill/>
        </p:spPr>
        <p:txBody>
          <a:bodyPr wrap="square">
            <a:spAutoFit/>
          </a:bodyPr>
          <a:lstStyle/>
          <a:p>
            <a:pPr>
              <a:defRPr sz="1400" b="1">
                <a:solidFill>
                  <a:srgbClr val="1E293B"/>
                </a:solidFill>
                <a:latin typeface="Arial"/>
              </a:defRPr>
            </a:pPr>
            <a:r>
              <a:t>Objective 4: Hallucination Guardrails &amp; Refusal</a:t>
            </a:r>
          </a:p>
        </p:txBody>
      </p:sp>
      <p:sp>
        <p:nvSpPr>
          <p:cNvPr id="18" name="TextBox 17"/>
          <p:cNvSpPr txBox="1"/>
          <p:nvPr/>
        </p:nvSpPr>
        <p:spPr>
          <a:xfrm>
            <a:off x="6400800" y="4572000"/>
            <a:ext cx="4846320" cy="1463040"/>
          </a:xfrm>
          <a:prstGeom prst="rect">
            <a:avLst/>
          </a:prstGeom>
          <a:noFill/>
        </p:spPr>
        <p:txBody>
          <a:bodyPr wrap="square">
            <a:spAutoFit/>
          </a:bodyPr>
          <a:lstStyle/>
          <a:p>
            <a:pPr>
              <a:spcAft>
                <a:spcPts val="300"/>
              </a:spcAft>
              <a:defRPr sz="1050">
                <a:solidFill>
                  <a:srgbClr val="1E293B"/>
                </a:solidFill>
                <a:latin typeface="Arial"/>
              </a:defRPr>
            </a:pPr>
            <a:r>
              <a:t>✔ Formulate calibrated confidence thresholding (tau = 0.20 on sigmoid score).</a:t>
            </a:r>
          </a:p>
          <a:p>
            <a:pPr>
              <a:spcAft>
                <a:spcPts val="300"/>
              </a:spcAft>
              <a:defRPr sz="1050">
                <a:solidFill>
                  <a:srgbClr val="1E293B"/>
                </a:solidFill>
                <a:latin typeface="Arial"/>
              </a:defRPr>
            </a:pPr>
            <a:r>
              <a:t>✔ Detect out-of-domain and unanswerable questions.</a:t>
            </a:r>
          </a:p>
          <a:p>
            <a:pPr>
              <a:spcAft>
                <a:spcPts val="300"/>
              </a:spcAft>
              <a:defRPr sz="1050">
                <a:solidFill>
                  <a:srgbClr val="1E293B"/>
                </a:solidFill>
                <a:latin typeface="Arial"/>
              </a:defRPr>
            </a:pPr>
            <a:r>
              <a:t>✔ Safely decline unanswerable queries with transparent refusal explanations.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3: INTRODUCTION &amp; MOTIVATION</a:t>
            </a:r>
          </a:p>
          <a:p>
            <a:pPr>
              <a:spcAft>
                <a:spcPts val="200"/>
              </a:spcAft>
              <a:defRPr sz="2200" b="1">
                <a:solidFill>
                  <a:srgbClr val="1E293B"/>
                </a:solidFill>
                <a:latin typeface="Arial"/>
              </a:defRPr>
            </a:pPr>
            <a:r>
              <a:t>What is Retrieval-Augmented Generation (RAG)?</a:t>
            </a:r>
          </a:p>
          <a:p>
            <a:pPr>
              <a:defRPr sz="1200">
                <a:solidFill>
                  <a:srgbClr val="64748B"/>
                </a:solidFill>
                <a:latin typeface="Arial"/>
              </a:defRPr>
            </a:pPr>
            <a:r>
              <a:t>Overcoming parametric memory limits through dynamic context retrieval</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Foundational Concept of RAG</a:t>
            </a:r>
          </a:p>
        </p:txBody>
      </p:sp>
      <p:sp>
        <p:nvSpPr>
          <p:cNvPr id="6" name="TextBox 5"/>
          <p:cNvSpPr txBox="1"/>
          <p:nvPr/>
        </p:nvSpPr>
        <p:spPr>
          <a:xfrm>
            <a:off x="914400" y="2194560"/>
            <a:ext cx="4846320" cy="3657600"/>
          </a:xfrm>
          <a:prstGeom prst="rect">
            <a:avLst/>
          </a:prstGeom>
          <a:noFill/>
        </p:spPr>
        <p:txBody>
          <a:bodyPr wrap="square">
            <a:spAutoFit/>
          </a:bodyPr>
          <a:lstStyle/>
          <a:p>
            <a:pPr>
              <a:defRPr sz="1150" b="1">
                <a:solidFill>
                  <a:srgbClr val="1E293B"/>
                </a:solidFill>
                <a:latin typeface="Arial"/>
              </a:defRPr>
            </a:pPr>
            <a:r>
              <a:t>• Parametric vs. Non-Parametric Memory: </a:t>
            </a:r>
          </a:p>
          <a:p>
            <a:pPr>
              <a:spcAft>
                <a:spcPts val="600"/>
              </a:spcAft>
              <a:defRPr sz="1050">
                <a:solidFill>
                  <a:srgbClr val="64748B"/>
                </a:solidFill>
                <a:latin typeface="Arial"/>
              </a:defRPr>
            </a:pPr>
            <a:r>
              <a:t>  Standard LLMs rely on static weights trained months prior. RAG dynamically injects external documents into the model's active attention window at inference time.</a:t>
            </a:r>
          </a:p>
          <a:p>
            <a:pPr>
              <a:defRPr sz="1150" b="1">
                <a:solidFill>
                  <a:srgbClr val="1E293B"/>
                </a:solidFill>
                <a:latin typeface="Arial"/>
              </a:defRPr>
            </a:pPr>
            <a:r>
              <a:t>• Hallucination Prevention: </a:t>
            </a:r>
          </a:p>
          <a:p>
            <a:pPr>
              <a:spcAft>
                <a:spcPts val="600"/>
              </a:spcAft>
              <a:defRPr sz="1050">
                <a:solidFill>
                  <a:srgbClr val="64748B"/>
                </a:solidFill>
                <a:latin typeface="Arial"/>
              </a:defRPr>
            </a:pPr>
            <a:r>
              <a:t>  By grounding generation strictly in verified retrieved passages, the model acts as an analytical synthesizer rather than an unconstrained text generator.</a:t>
            </a:r>
          </a:p>
          <a:p>
            <a:pPr>
              <a:defRPr sz="1150" b="1">
                <a:solidFill>
                  <a:srgbClr val="1E293B"/>
                </a:solidFill>
                <a:latin typeface="Arial"/>
              </a:defRPr>
            </a:pPr>
            <a:r>
              <a:t>• Zero Fine-Tuning Overhead: </a:t>
            </a:r>
          </a:p>
          <a:p>
            <a:pPr>
              <a:spcAft>
                <a:spcPts val="600"/>
              </a:spcAft>
              <a:defRPr sz="1050">
                <a:solidFill>
                  <a:srgbClr val="64748B"/>
                </a:solidFill>
                <a:latin typeface="Arial"/>
              </a:defRPr>
            </a:pPr>
            <a:r>
              <a:t>  Allows organizations to update regulations, policies, and manuals in seconds by indexing new documents without costly GPU retraining.</a:t>
            </a:r>
          </a:p>
          <a:p>
            <a:pPr>
              <a:defRPr sz="1150" b="1">
                <a:solidFill>
                  <a:srgbClr val="1E293B"/>
                </a:solidFill>
                <a:latin typeface="Arial"/>
              </a:defRPr>
            </a:pPr>
            <a:r>
              <a:t>• Exact Attribution: </a:t>
            </a:r>
          </a:p>
          <a:p>
            <a:pPr>
              <a:spcAft>
                <a:spcPts val="600"/>
              </a:spcAft>
              <a:defRPr sz="1050">
                <a:solidFill>
                  <a:srgbClr val="64748B"/>
                </a:solidFill>
                <a:latin typeface="Arial"/>
              </a:defRPr>
            </a:pPr>
            <a:r>
              <a:t>  Every assertion can be mapped directly to a page and paragraph, fulfilling legal and compliance requirements.</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Why 'Domain-Specific' RAG is Unique</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50" b="1">
                <a:solidFill>
                  <a:srgbClr val="1E293B"/>
                </a:solidFill>
                <a:latin typeface="Arial"/>
              </a:defRPr>
            </a:pPr>
            <a:r>
              <a:t>• Dense Numeric Dependencies: </a:t>
            </a:r>
          </a:p>
          <a:p>
            <a:pPr>
              <a:spcAft>
                <a:spcPts val="600"/>
              </a:spcAft>
              <a:defRPr sz="1050">
                <a:solidFill>
                  <a:srgbClr val="64748B"/>
                </a:solidFill>
                <a:latin typeface="Arial"/>
              </a:defRPr>
            </a:pPr>
            <a:r>
              <a:t>  Domain policies hinge on exact numbers (e.g., '75% attendance', '6 months probation', '14 calendar days'). General search models often overlook numeric constraints.</a:t>
            </a:r>
          </a:p>
          <a:p>
            <a:pPr>
              <a:defRPr sz="1150" b="1">
                <a:solidFill>
                  <a:srgbClr val="1E293B"/>
                </a:solidFill>
                <a:latin typeface="Arial"/>
              </a:defRPr>
            </a:pPr>
            <a:r>
              <a:t>• Sub-Clause Nuance: </a:t>
            </a:r>
          </a:p>
          <a:p>
            <a:pPr>
              <a:spcAft>
                <a:spcPts val="600"/>
              </a:spcAft>
              <a:defRPr sz="1050">
                <a:solidFill>
                  <a:srgbClr val="64748B"/>
                </a:solidFill>
                <a:latin typeface="Arial"/>
              </a:defRPr>
            </a:pPr>
            <a:r>
              <a:t>  Exceptions and conditional clauses (e.g., 'condonable between 65% and 74.9% only with Dean approval') require high-precision reranking.</a:t>
            </a:r>
          </a:p>
          <a:p>
            <a:pPr>
              <a:defRPr sz="1150" b="1">
                <a:solidFill>
                  <a:srgbClr val="1E293B"/>
                </a:solidFill>
                <a:latin typeface="Arial"/>
              </a:defRPr>
            </a:pPr>
            <a:r>
              <a:t>• Hierarchical Citations: </a:t>
            </a:r>
          </a:p>
          <a:p>
            <a:pPr>
              <a:spcAft>
                <a:spcPts val="600"/>
              </a:spcAft>
              <a:defRPr sz="1050">
                <a:solidFill>
                  <a:srgbClr val="64748B"/>
                </a:solidFill>
                <a:latin typeface="Arial"/>
              </a:defRPr>
            </a:pPr>
            <a:r>
              <a:t>  Users require exact document name, chapter, section, and page references for verification before administrative boards.</a:t>
            </a:r>
          </a:p>
          <a:p>
            <a:pPr>
              <a:defRPr sz="1150" b="1">
                <a:solidFill>
                  <a:srgbClr val="1E293B"/>
                </a:solidFill>
                <a:latin typeface="Arial"/>
              </a:defRPr>
            </a:pPr>
            <a:r>
              <a:t>• Safe Refusal Policy: </a:t>
            </a:r>
          </a:p>
          <a:p>
            <a:pPr>
              <a:spcAft>
                <a:spcPts val="600"/>
              </a:spcAft>
              <a:defRPr sz="1050">
                <a:solidFill>
                  <a:srgbClr val="64748B"/>
                </a:solidFill>
                <a:latin typeface="Arial"/>
              </a:defRPr>
            </a:pPr>
            <a:r>
              <a:t>  In high-stakes compliance contexts, 'I cannot answer from the documents' is vastly superior to a misleading hallucination.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3: INTRODUCTION &amp; MOTIVATION</a:t>
            </a:r>
          </a:p>
          <a:p>
            <a:pPr>
              <a:spcAft>
                <a:spcPts val="200"/>
              </a:spcAft>
              <a:defRPr sz="2200" b="1">
                <a:solidFill>
                  <a:srgbClr val="1E293B"/>
                </a:solidFill>
                <a:latin typeface="Arial"/>
              </a:defRPr>
            </a:pPr>
            <a:r>
              <a:t>Target Sectors &amp; Practical Impact</a:t>
            </a:r>
          </a:p>
          <a:p>
            <a:pPr>
              <a:defRPr sz="1200">
                <a:solidFill>
                  <a:srgbClr val="64748B"/>
                </a:solidFill>
                <a:latin typeface="Arial"/>
              </a:defRPr>
            </a:pPr>
            <a:r>
              <a:t>Transforming institutional manual access across three major societal domains</a:t>
            </a:r>
          </a:p>
        </p:txBody>
      </p:sp>
      <p:sp>
        <p:nvSpPr>
          <p:cNvPr id="3" name="Rounded Rectangle 2"/>
          <p:cNvSpPr/>
          <p:nvPr/>
        </p:nvSpPr>
        <p:spPr>
          <a:xfrm>
            <a:off x="731520" y="1645920"/>
            <a:ext cx="33832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3017520" cy="365760"/>
          </a:xfrm>
          <a:prstGeom prst="rect">
            <a:avLst/>
          </a:prstGeom>
          <a:noFill/>
        </p:spPr>
        <p:txBody>
          <a:bodyPr wrap="square">
            <a:spAutoFit/>
          </a:bodyPr>
          <a:lstStyle/>
          <a:p>
            <a:pPr>
              <a:defRPr sz="1400" b="1">
                <a:solidFill>
                  <a:srgbClr val="1E293B"/>
                </a:solidFill>
                <a:latin typeface="Arial"/>
              </a:defRPr>
            </a:pPr>
            <a:r>
              <a:t>1. University Academic Administration</a:t>
            </a:r>
          </a:p>
        </p:txBody>
      </p:sp>
      <p:sp>
        <p:nvSpPr>
          <p:cNvPr id="6" name="TextBox 5"/>
          <p:cNvSpPr txBox="1"/>
          <p:nvPr/>
        </p:nvSpPr>
        <p:spPr>
          <a:xfrm>
            <a:off x="914400" y="2194560"/>
            <a:ext cx="3017520" cy="3657600"/>
          </a:xfrm>
          <a:prstGeom prst="rect">
            <a:avLst/>
          </a:prstGeom>
          <a:noFill/>
        </p:spPr>
        <p:txBody>
          <a:bodyPr wrap="square">
            <a:spAutoFit/>
          </a:bodyPr>
          <a:lstStyle/>
          <a:p>
            <a:pPr>
              <a:spcAft>
                <a:spcPts val="800"/>
              </a:spcAft>
              <a:defRPr sz="1000" b="1">
                <a:solidFill>
                  <a:srgbClr val="1D4ED8"/>
                </a:solidFill>
                <a:latin typeface="Arial"/>
              </a:defRPr>
            </a:pPr>
            <a:r>
              <a:t>Beneficiaries: Students &amp; Faculty Members</a:t>
            </a:r>
          </a:p>
          <a:p>
            <a:pPr>
              <a:spcAft>
                <a:spcPts val="400"/>
              </a:spcAft>
              <a:defRPr sz="1000">
                <a:solidFill>
                  <a:srgbClr val="1E293B"/>
                </a:solidFill>
                <a:latin typeface="Arial"/>
              </a:defRPr>
            </a:pPr>
            <a:r>
              <a:t>• Academic credits, grade point (CGPA) thresholds, honors criteria.</a:t>
            </a:r>
          </a:p>
          <a:p>
            <a:pPr>
              <a:spcAft>
                <a:spcPts val="400"/>
              </a:spcAft>
              <a:defRPr sz="1000">
                <a:solidFill>
                  <a:srgbClr val="1E293B"/>
                </a:solidFill>
                <a:latin typeface="Arial"/>
              </a:defRPr>
            </a:pPr>
            <a:r>
              <a:t>• Attendance condonation criteria and medical documentation timelines.</a:t>
            </a:r>
          </a:p>
          <a:p>
            <a:pPr>
              <a:spcAft>
                <a:spcPts val="400"/>
              </a:spcAft>
              <a:defRPr sz="1000">
                <a:solidFill>
                  <a:srgbClr val="1E293B"/>
                </a:solidFill>
                <a:latin typeface="Arial"/>
              </a:defRPr>
            </a:pPr>
            <a:r>
              <a:t>• Exam re-evaluation procedures and plagiarism penalty scales.</a:t>
            </a:r>
          </a:p>
          <a:p>
            <a:pPr>
              <a:spcAft>
                <a:spcPts val="400"/>
              </a:spcAft>
              <a:defRPr sz="1000">
                <a:solidFill>
                  <a:srgbClr val="1E293B"/>
                </a:solidFill>
                <a:latin typeface="Arial"/>
              </a:defRPr>
            </a:pPr>
            <a:r>
              <a:t>• Reduces administrative front-desk queues by over 70%.</a:t>
            </a:r>
          </a:p>
        </p:txBody>
      </p:sp>
      <p:sp>
        <p:nvSpPr>
          <p:cNvPr id="7" name="Rounded Rectangle 6"/>
          <p:cNvSpPr/>
          <p:nvPr/>
        </p:nvSpPr>
        <p:spPr>
          <a:xfrm>
            <a:off x="4389120" y="1645920"/>
            <a:ext cx="33832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19072"/>
            <a:ext cx="3017520" cy="365760"/>
          </a:xfrm>
          <a:prstGeom prst="rect">
            <a:avLst/>
          </a:prstGeom>
          <a:noFill/>
        </p:spPr>
        <p:txBody>
          <a:bodyPr wrap="square">
            <a:spAutoFit/>
          </a:bodyPr>
          <a:lstStyle/>
          <a:p>
            <a:pPr>
              <a:defRPr sz="1400" b="1">
                <a:solidFill>
                  <a:srgbClr val="1E293B"/>
                </a:solidFill>
                <a:latin typeface="Arial"/>
              </a:defRPr>
            </a:pPr>
            <a:r>
              <a:t>2. Corporate Enterprise HR Policies</a:t>
            </a:r>
          </a:p>
        </p:txBody>
      </p:sp>
      <p:sp>
        <p:nvSpPr>
          <p:cNvPr id="10" name="TextBox 9"/>
          <p:cNvSpPr txBox="1"/>
          <p:nvPr/>
        </p:nvSpPr>
        <p:spPr>
          <a:xfrm>
            <a:off x="4572000" y="2194560"/>
            <a:ext cx="3017520" cy="3657600"/>
          </a:xfrm>
          <a:prstGeom prst="rect">
            <a:avLst/>
          </a:prstGeom>
          <a:noFill/>
        </p:spPr>
        <p:txBody>
          <a:bodyPr wrap="square">
            <a:spAutoFit/>
          </a:bodyPr>
          <a:lstStyle/>
          <a:p>
            <a:pPr>
              <a:spcAft>
                <a:spcPts val="800"/>
              </a:spcAft>
              <a:defRPr sz="1000" b="1">
                <a:solidFill>
                  <a:srgbClr val="1D4ED8"/>
                </a:solidFill>
                <a:latin typeface="Arial"/>
              </a:defRPr>
            </a:pPr>
            <a:r>
              <a:t>Beneficiaries: Employees &amp; People Operations</a:t>
            </a:r>
          </a:p>
          <a:p>
            <a:pPr>
              <a:spcAft>
                <a:spcPts val="400"/>
              </a:spcAft>
              <a:defRPr sz="1000">
                <a:solidFill>
                  <a:srgbClr val="1E293B"/>
                </a:solidFill>
                <a:latin typeface="Arial"/>
              </a:defRPr>
            </a:pPr>
            <a:r>
              <a:t>• Probationary duration and performance milestone evaluations.</a:t>
            </a:r>
          </a:p>
          <a:p>
            <a:pPr>
              <a:spcAft>
                <a:spcPts val="400"/>
              </a:spcAft>
              <a:defRPr sz="1000">
                <a:solidFill>
                  <a:srgbClr val="1E293B"/>
                </a:solidFill>
                <a:latin typeface="Arial"/>
              </a:defRPr>
            </a:pPr>
            <a:r>
              <a:t>• Paid Time Off (PTO), sick leave rollover caps, parental leaves.</a:t>
            </a:r>
          </a:p>
          <a:p>
            <a:pPr>
              <a:spcAft>
                <a:spcPts val="400"/>
              </a:spcAft>
              <a:defRPr sz="1000">
                <a:solidFill>
                  <a:srgbClr val="1E293B"/>
                </a:solidFill>
                <a:latin typeface="Arial"/>
              </a:defRPr>
            </a:pPr>
            <a:r>
              <a:t>• 401(k) retirement matching limits and 2-year vesting schedules.</a:t>
            </a:r>
          </a:p>
          <a:p>
            <a:pPr>
              <a:spcAft>
                <a:spcPts val="400"/>
              </a:spcAft>
              <a:defRPr sz="1000">
                <a:solidFill>
                  <a:srgbClr val="1E293B"/>
                </a:solidFill>
                <a:latin typeface="Arial"/>
              </a:defRPr>
            </a:pPr>
            <a:r>
              <a:t>• Eliminates repeated HR ticket inquiries and accelerates onboarding.</a:t>
            </a:r>
          </a:p>
        </p:txBody>
      </p:sp>
      <p:sp>
        <p:nvSpPr>
          <p:cNvPr id="11" name="Rounded Rectangle 10"/>
          <p:cNvSpPr/>
          <p:nvPr/>
        </p:nvSpPr>
        <p:spPr>
          <a:xfrm>
            <a:off x="8046720" y="1645920"/>
            <a:ext cx="33832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19072"/>
            <a:ext cx="3017520" cy="365760"/>
          </a:xfrm>
          <a:prstGeom prst="rect">
            <a:avLst/>
          </a:prstGeom>
          <a:noFill/>
        </p:spPr>
        <p:txBody>
          <a:bodyPr wrap="square">
            <a:spAutoFit/>
          </a:bodyPr>
          <a:lstStyle/>
          <a:p>
            <a:pPr>
              <a:defRPr sz="1400" b="1">
                <a:solidFill>
                  <a:srgbClr val="1E293B"/>
                </a:solidFill>
                <a:latin typeface="Arial"/>
              </a:defRPr>
            </a:pPr>
            <a:r>
              <a:t>3. Municipal Citizen Services</a:t>
            </a:r>
          </a:p>
        </p:txBody>
      </p:sp>
      <p:sp>
        <p:nvSpPr>
          <p:cNvPr id="14" name="TextBox 13"/>
          <p:cNvSpPr txBox="1"/>
          <p:nvPr/>
        </p:nvSpPr>
        <p:spPr>
          <a:xfrm>
            <a:off x="8229600" y="2194560"/>
            <a:ext cx="3017520" cy="3657600"/>
          </a:xfrm>
          <a:prstGeom prst="rect">
            <a:avLst/>
          </a:prstGeom>
          <a:noFill/>
        </p:spPr>
        <p:txBody>
          <a:bodyPr wrap="square">
            <a:spAutoFit/>
          </a:bodyPr>
          <a:lstStyle/>
          <a:p>
            <a:pPr>
              <a:spcAft>
                <a:spcPts val="800"/>
              </a:spcAft>
              <a:defRPr sz="1000" b="1">
                <a:solidFill>
                  <a:srgbClr val="1D4ED8"/>
                </a:solidFill>
                <a:latin typeface="Arial"/>
              </a:defRPr>
            </a:pPr>
            <a:r>
              <a:t>Beneficiaries: Citizens &amp; Public Welfare</a:t>
            </a:r>
          </a:p>
          <a:p>
            <a:pPr>
              <a:spcAft>
                <a:spcPts val="400"/>
              </a:spcAft>
              <a:defRPr sz="1000">
                <a:solidFill>
                  <a:srgbClr val="1E293B"/>
                </a:solidFill>
                <a:latin typeface="Arial"/>
              </a:defRPr>
            </a:pPr>
            <a:r>
              <a:t>• Residential property tax rebate schedules and solar subsidies.</a:t>
            </a:r>
          </a:p>
          <a:p>
            <a:pPr>
              <a:spcAft>
                <a:spcPts val="400"/>
              </a:spcAft>
              <a:defRPr sz="1000">
                <a:solidFill>
                  <a:srgbClr val="1E293B"/>
                </a:solidFill>
                <a:latin typeface="Arial"/>
              </a:defRPr>
            </a:pPr>
            <a:r>
              <a:t>• Fast-track building permit sanction timelines (7 to 21 days).</a:t>
            </a:r>
          </a:p>
          <a:p>
            <a:pPr>
              <a:spcAft>
                <a:spcPts val="400"/>
              </a:spcAft>
              <a:defRPr sz="1000">
                <a:solidFill>
                  <a:srgbClr val="1E293B"/>
                </a:solidFill>
                <a:latin typeface="Arial"/>
              </a:defRPr>
            </a:pPr>
            <a:r>
              <a:t>• Water connection deposits and 3-tier citizen grievance SLAs.</a:t>
            </a:r>
          </a:p>
          <a:p>
            <a:pPr>
              <a:spcAft>
                <a:spcPts val="400"/>
              </a:spcAft>
              <a:defRPr sz="1000">
                <a:solidFill>
                  <a:srgbClr val="1E293B"/>
                </a:solidFill>
                <a:latin typeface="Arial"/>
              </a:defRPr>
            </a:pPr>
            <a:r>
              <a:t>• Empowers citizens with immediate access to municipal entitlements.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4: DATASET DESCRIPTION &amp; SOURCE</a:t>
            </a:r>
          </a:p>
          <a:p>
            <a:pPr>
              <a:spcAft>
                <a:spcPts val="200"/>
              </a:spcAft>
              <a:defRPr sz="2200" b="1">
                <a:solidFill>
                  <a:srgbClr val="1E293B"/>
                </a:solidFill>
                <a:latin typeface="Arial"/>
              </a:defRPr>
            </a:pPr>
            <a:r>
              <a:t>Corpus Architecture &amp; Benchmark Collection</a:t>
            </a:r>
          </a:p>
          <a:p>
            <a:pPr>
              <a:defRPr sz="1200">
                <a:solidFill>
                  <a:srgbClr val="64748B"/>
                </a:solidFill>
                <a:latin typeface="Arial"/>
              </a:defRPr>
            </a:pPr>
            <a:r>
              <a:t>Multi-domain regulatory documents with authentic policy structures</a:t>
            </a:r>
          </a:p>
        </p:txBody>
      </p:sp>
      <p:sp>
        <p:nvSpPr>
          <p:cNvPr id="3" name="Rounded Rectangle 2"/>
          <p:cNvSpPr/>
          <p:nvPr/>
        </p:nvSpPr>
        <p:spPr>
          <a:xfrm>
            <a:off x="731520" y="1645920"/>
            <a:ext cx="10728655" cy="2011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10362895" cy="365760"/>
          </a:xfrm>
          <a:prstGeom prst="rect">
            <a:avLst/>
          </a:prstGeom>
          <a:noFill/>
        </p:spPr>
        <p:txBody>
          <a:bodyPr wrap="square">
            <a:spAutoFit/>
          </a:bodyPr>
          <a:lstStyle/>
          <a:p>
            <a:pPr>
              <a:defRPr sz="1400" b="1">
                <a:solidFill>
                  <a:srgbClr val="1E293B"/>
                </a:solidFill>
                <a:latin typeface="Arial"/>
              </a:defRPr>
            </a:pPr>
            <a:r>
              <a:t>Corpus Breakdown &amp; Domain Characteristics</a:t>
            </a:r>
          </a:p>
        </p:txBody>
      </p:sp>
      <p:sp>
        <p:nvSpPr>
          <p:cNvPr id="6" name="TextBox 5"/>
          <p:cNvSpPr txBox="1"/>
          <p:nvPr/>
        </p:nvSpPr>
        <p:spPr>
          <a:xfrm>
            <a:off x="914400" y="2194560"/>
            <a:ext cx="10362895" cy="1371600"/>
          </a:xfrm>
          <a:prstGeom prst="rect">
            <a:avLst/>
          </a:prstGeom>
          <a:noFill/>
        </p:spPr>
        <p:txBody>
          <a:bodyPr wrap="square">
            <a:spAutoFit/>
          </a:bodyPr>
          <a:lstStyle/>
          <a:p>
            <a:pPr>
              <a:defRPr sz="1100">
                <a:solidFill>
                  <a:srgbClr val="1E293B"/>
                </a:solidFill>
                <a:latin typeface="Arial"/>
              </a:defRPr>
            </a:pPr>
            <a:r>
              <a:t>The project corpus comprises authentic, fully formatted regulatory and policy manuals spanning three critical domains. Each document was compiled with official numbering schemes, section codes, financial figures, time windows, and multi-page layouts. Documents are provided in both multi-page PDF format (synthesized with ReportLab) and clean text format to evaluate parsing fidelity.</a:t>
            </a:r>
          </a:p>
        </p:txBody>
      </p:sp>
      <p:sp>
        <p:nvSpPr>
          <p:cNvPr id="7" name="Rounded Rectangle 6"/>
          <p:cNvSpPr/>
          <p:nvPr/>
        </p:nvSpPr>
        <p:spPr>
          <a:xfrm>
            <a:off x="731520" y="384048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393192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913632"/>
            <a:ext cx="3017520" cy="365760"/>
          </a:xfrm>
          <a:prstGeom prst="rect">
            <a:avLst/>
          </a:prstGeom>
          <a:noFill/>
        </p:spPr>
        <p:txBody>
          <a:bodyPr wrap="square">
            <a:spAutoFit/>
          </a:bodyPr>
          <a:lstStyle/>
          <a:p>
            <a:pPr>
              <a:defRPr sz="1400" b="1">
                <a:solidFill>
                  <a:srgbClr val="1E293B"/>
                </a:solidFill>
                <a:latin typeface="Arial"/>
              </a:defRPr>
            </a:pPr>
            <a:r>
              <a:t>Doc #1: Apex University Academ...</a:t>
            </a:r>
          </a:p>
        </p:txBody>
      </p:sp>
      <p:sp>
        <p:nvSpPr>
          <p:cNvPr id="10" name="TextBox 9"/>
          <p:cNvSpPr txBox="1"/>
          <p:nvPr/>
        </p:nvSpPr>
        <p:spPr>
          <a:xfrm>
            <a:off x="914400" y="4389120"/>
            <a:ext cx="3017520" cy="1554480"/>
          </a:xfrm>
          <a:prstGeom prst="rect">
            <a:avLst/>
          </a:prstGeom>
          <a:noFill/>
        </p:spPr>
        <p:txBody>
          <a:bodyPr wrap="square">
            <a:spAutoFit/>
          </a:bodyPr>
          <a:lstStyle/>
          <a:p>
            <a:pPr>
              <a:spcAft>
                <a:spcPts val="400"/>
              </a:spcAft>
              <a:defRPr sz="1000" b="1">
                <a:solidFill>
                  <a:srgbClr val="1D4ED8"/>
                </a:solidFill>
                <a:latin typeface="Arial"/>
              </a:defRPr>
            </a:pPr>
            <a:r>
              <a:t>Volume: 4 Pages (PDF &amp; TXT)</a:t>
            </a:r>
          </a:p>
          <a:p>
            <a:pPr>
              <a:defRPr sz="950">
                <a:solidFill>
                  <a:srgbClr val="1E293B"/>
                </a:solidFill>
                <a:latin typeface="Arial"/>
              </a:defRPr>
            </a:pPr>
            <a:r>
              <a:t>Academic credits, 75% attendance rule, condonation fees ($50), 10-point letter grading scale, 4-tier Turnitin plagiarism penalties.</a:t>
            </a:r>
          </a:p>
        </p:txBody>
      </p:sp>
      <p:sp>
        <p:nvSpPr>
          <p:cNvPr id="11" name="Rounded Rectangle 10"/>
          <p:cNvSpPr/>
          <p:nvPr/>
        </p:nvSpPr>
        <p:spPr>
          <a:xfrm>
            <a:off x="4389120" y="384048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393192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3913632"/>
            <a:ext cx="3017520" cy="365760"/>
          </a:xfrm>
          <a:prstGeom prst="rect">
            <a:avLst/>
          </a:prstGeom>
          <a:noFill/>
        </p:spPr>
        <p:txBody>
          <a:bodyPr wrap="square">
            <a:spAutoFit/>
          </a:bodyPr>
          <a:lstStyle/>
          <a:p>
            <a:pPr>
              <a:defRPr sz="1400" b="1">
                <a:solidFill>
                  <a:srgbClr val="1E293B"/>
                </a:solidFill>
                <a:latin typeface="Arial"/>
              </a:defRPr>
            </a:pPr>
            <a:r>
              <a:t>Doc #2: NexaCorp Global Employ...</a:t>
            </a:r>
          </a:p>
        </p:txBody>
      </p:sp>
      <p:sp>
        <p:nvSpPr>
          <p:cNvPr id="14" name="TextBox 13"/>
          <p:cNvSpPr txBox="1"/>
          <p:nvPr/>
        </p:nvSpPr>
        <p:spPr>
          <a:xfrm>
            <a:off x="4572000" y="4389120"/>
            <a:ext cx="3017520" cy="1554480"/>
          </a:xfrm>
          <a:prstGeom prst="rect">
            <a:avLst/>
          </a:prstGeom>
          <a:noFill/>
        </p:spPr>
        <p:txBody>
          <a:bodyPr wrap="square">
            <a:spAutoFit/>
          </a:bodyPr>
          <a:lstStyle/>
          <a:p>
            <a:pPr>
              <a:spcAft>
                <a:spcPts val="400"/>
              </a:spcAft>
              <a:defRPr sz="1000" b="1">
                <a:solidFill>
                  <a:srgbClr val="1D4ED8"/>
                </a:solidFill>
                <a:latin typeface="Arial"/>
              </a:defRPr>
            </a:pPr>
            <a:r>
              <a:t>Volume: 4 Pages (PDF &amp; TXT)</a:t>
            </a:r>
          </a:p>
          <a:p>
            <a:pPr>
              <a:defRPr sz="950">
                <a:solidFill>
                  <a:srgbClr val="1E293B"/>
                </a:solidFill>
                <a:latin typeface="Arial"/>
              </a:defRPr>
            </a:pPr>
            <a:r>
              <a:t>6-month probation period, 20-day PTO accrual, 16-week parental leave, 5% max 401(k) matching, $2,500 annual tuition reimbursement.</a:t>
            </a:r>
          </a:p>
        </p:txBody>
      </p:sp>
      <p:sp>
        <p:nvSpPr>
          <p:cNvPr id="15" name="Rounded Rectangle 14"/>
          <p:cNvSpPr/>
          <p:nvPr/>
        </p:nvSpPr>
        <p:spPr>
          <a:xfrm>
            <a:off x="8046720" y="384048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393192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913632"/>
            <a:ext cx="3017520" cy="365760"/>
          </a:xfrm>
          <a:prstGeom prst="rect">
            <a:avLst/>
          </a:prstGeom>
          <a:noFill/>
        </p:spPr>
        <p:txBody>
          <a:bodyPr wrap="square">
            <a:spAutoFit/>
          </a:bodyPr>
          <a:lstStyle/>
          <a:p>
            <a:pPr>
              <a:defRPr sz="1400" b="1">
                <a:solidFill>
                  <a:srgbClr val="1E293B"/>
                </a:solidFill>
                <a:latin typeface="Arial"/>
              </a:defRPr>
            </a:pPr>
            <a:r>
              <a:t>Doc #3: Metro City Municipal C...</a:t>
            </a:r>
          </a:p>
        </p:txBody>
      </p:sp>
      <p:sp>
        <p:nvSpPr>
          <p:cNvPr id="18" name="TextBox 17"/>
          <p:cNvSpPr txBox="1"/>
          <p:nvPr/>
        </p:nvSpPr>
        <p:spPr>
          <a:xfrm>
            <a:off x="8229600" y="4389120"/>
            <a:ext cx="3017520" cy="1554480"/>
          </a:xfrm>
          <a:prstGeom prst="rect">
            <a:avLst/>
          </a:prstGeom>
          <a:noFill/>
        </p:spPr>
        <p:txBody>
          <a:bodyPr wrap="square">
            <a:spAutoFit/>
          </a:bodyPr>
          <a:lstStyle/>
          <a:p>
            <a:pPr>
              <a:spcAft>
                <a:spcPts val="400"/>
              </a:spcAft>
              <a:defRPr sz="1000" b="1">
                <a:solidFill>
                  <a:srgbClr val="1D4ED8"/>
                </a:solidFill>
                <a:latin typeface="Arial"/>
              </a:defRPr>
            </a:pPr>
            <a:r>
              <a:t>Volume: 3 Pages (PDF &amp; TXT)</a:t>
            </a:r>
          </a:p>
          <a:p>
            <a:pPr>
              <a:defRPr sz="950">
                <a:solidFill>
                  <a:srgbClr val="1E293B"/>
                </a:solidFill>
                <a:latin typeface="Arial"/>
              </a:defRPr>
            </a:pPr>
            <a:r>
              <a:t>10% early tax rebate by June 30, building permits (7-21 days), tree felling ratio (1:10), 3-tier grievance SLA (48h/72h/Commissioner).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4: DATASET DESCRIPTION &amp; SOURCE</a:t>
            </a:r>
          </a:p>
          <a:p>
            <a:pPr>
              <a:spcAft>
                <a:spcPts val="200"/>
              </a:spcAft>
              <a:defRPr sz="2200" b="1">
                <a:solidFill>
                  <a:srgbClr val="1E293B"/>
                </a:solidFill>
                <a:latin typeface="Arial"/>
              </a:defRPr>
            </a:pPr>
            <a:r>
              <a:t>Document Preprocessing &amp; Page Tracking Pipeline</a:t>
            </a:r>
          </a:p>
          <a:p>
            <a:pPr>
              <a:defRPr sz="1200">
                <a:solidFill>
                  <a:srgbClr val="64748B"/>
                </a:solidFill>
                <a:latin typeface="Arial"/>
              </a:defRPr>
            </a:pPr>
            <a:r>
              <a:t>Preserving layout hierarchy, exact page numbers, and domain tokens</a:t>
            </a:r>
          </a:p>
        </p:txBody>
      </p:sp>
      <p:sp>
        <p:nvSpPr>
          <p:cNvPr id="3" name="Rounded Rectangle 2"/>
          <p:cNvSpPr/>
          <p:nvPr/>
        </p:nvSpPr>
        <p:spPr>
          <a:xfrm>
            <a:off x="731520" y="1645920"/>
            <a:ext cx="33832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3017520" cy="365760"/>
          </a:xfrm>
          <a:prstGeom prst="rect">
            <a:avLst/>
          </a:prstGeom>
          <a:noFill/>
        </p:spPr>
        <p:txBody>
          <a:bodyPr wrap="square">
            <a:spAutoFit/>
          </a:bodyPr>
          <a:lstStyle/>
          <a:p>
            <a:pPr>
              <a:defRPr sz="1400" b="1">
                <a:solidFill>
                  <a:srgbClr val="1E293B"/>
                </a:solidFill>
                <a:latin typeface="Arial"/>
              </a:defRPr>
            </a:pPr>
            <a:r>
              <a:t>1. Multi-Format Loading Engine</a:t>
            </a:r>
          </a:p>
        </p:txBody>
      </p:sp>
      <p:sp>
        <p:nvSpPr>
          <p:cNvPr id="6" name="TextBox 5"/>
          <p:cNvSpPr txBox="1"/>
          <p:nvPr/>
        </p:nvSpPr>
        <p:spPr>
          <a:xfrm>
            <a:off x="914400" y="2194560"/>
            <a:ext cx="3017520" cy="3657600"/>
          </a:xfrm>
          <a:prstGeom prst="rect">
            <a:avLst/>
          </a:prstGeom>
          <a:noFill/>
        </p:spPr>
        <p:txBody>
          <a:bodyPr wrap="square">
            <a:spAutoFit/>
          </a:bodyPr>
          <a:lstStyle/>
          <a:p>
            <a:pPr>
              <a:spcAft>
                <a:spcPts val="800"/>
              </a:spcAft>
              <a:defRPr sz="1000" b="1">
                <a:solidFill>
                  <a:srgbClr val="1D4ED8"/>
                </a:solidFill>
                <a:latin typeface="Arial"/>
              </a:defRPr>
            </a:pPr>
            <a:r>
              <a:t>Engine: pypdfium2 / PyPDF2</a:t>
            </a:r>
          </a:p>
          <a:p>
            <a:pPr>
              <a:spcAft>
                <a:spcPts val="600"/>
              </a:spcAft>
              <a:defRPr sz="1000">
                <a:solidFill>
                  <a:srgbClr val="1E293B"/>
                </a:solidFill>
                <a:latin typeface="Arial"/>
              </a:defRPr>
            </a:pPr>
            <a:r>
              <a:t>• Extracts raw text page-by-page while tracking zero-indexed page positions.</a:t>
            </a:r>
          </a:p>
          <a:p>
            <a:pPr>
              <a:spcAft>
                <a:spcPts val="600"/>
              </a:spcAft>
              <a:defRPr sz="1000">
                <a:solidFill>
                  <a:srgbClr val="1E293B"/>
                </a:solidFill>
                <a:latin typeface="Arial"/>
              </a:defRPr>
            </a:pPr>
            <a:r>
              <a:t>• Preserves document file names and total page counts in metadata.</a:t>
            </a:r>
          </a:p>
          <a:p>
            <a:pPr>
              <a:spcAft>
                <a:spcPts val="600"/>
              </a:spcAft>
              <a:defRPr sz="1000">
                <a:solidFill>
                  <a:srgbClr val="1E293B"/>
                </a:solidFill>
                <a:latin typeface="Arial"/>
              </a:defRPr>
            </a:pPr>
            <a:r>
              <a:t>• Closes file descriptors in finally blocks to ensure zero memory leaks.</a:t>
            </a:r>
          </a:p>
        </p:txBody>
      </p:sp>
      <p:sp>
        <p:nvSpPr>
          <p:cNvPr id="7" name="Rounded Rectangle 6"/>
          <p:cNvSpPr/>
          <p:nvPr/>
        </p:nvSpPr>
        <p:spPr>
          <a:xfrm>
            <a:off x="4389120" y="1645920"/>
            <a:ext cx="33832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19072"/>
            <a:ext cx="3017520" cy="365760"/>
          </a:xfrm>
          <a:prstGeom prst="rect">
            <a:avLst/>
          </a:prstGeom>
          <a:noFill/>
        </p:spPr>
        <p:txBody>
          <a:bodyPr wrap="square">
            <a:spAutoFit/>
          </a:bodyPr>
          <a:lstStyle/>
          <a:p>
            <a:pPr>
              <a:defRPr sz="1400" b="1">
                <a:solidFill>
                  <a:srgbClr val="1E293B"/>
                </a:solidFill>
                <a:latin typeface="Arial"/>
              </a:defRPr>
            </a:pPr>
            <a:r>
              <a:t>2. NLP Text Normalization</a:t>
            </a:r>
          </a:p>
        </p:txBody>
      </p:sp>
      <p:sp>
        <p:nvSpPr>
          <p:cNvPr id="10" name="TextBox 9"/>
          <p:cNvSpPr txBox="1"/>
          <p:nvPr/>
        </p:nvSpPr>
        <p:spPr>
          <a:xfrm>
            <a:off x="4572000" y="2194560"/>
            <a:ext cx="3017520" cy="3657600"/>
          </a:xfrm>
          <a:prstGeom prst="rect">
            <a:avLst/>
          </a:prstGeom>
          <a:noFill/>
        </p:spPr>
        <p:txBody>
          <a:bodyPr wrap="square">
            <a:spAutoFit/>
          </a:bodyPr>
          <a:lstStyle/>
          <a:p>
            <a:pPr>
              <a:spcAft>
                <a:spcPts val="800"/>
              </a:spcAft>
              <a:defRPr sz="1000" b="1">
                <a:solidFill>
                  <a:srgbClr val="1D4ED8"/>
                </a:solidFill>
                <a:latin typeface="Arial"/>
              </a:defRPr>
            </a:pPr>
            <a:r>
              <a:t>Engine: Unicode &amp; Layout Sanitization</a:t>
            </a:r>
          </a:p>
          <a:p>
            <a:pPr>
              <a:spcAft>
                <a:spcPts val="600"/>
              </a:spcAft>
              <a:defRPr sz="1000">
                <a:solidFill>
                  <a:srgbClr val="1E293B"/>
                </a:solidFill>
                <a:latin typeface="Arial"/>
              </a:defRPr>
            </a:pPr>
            <a:r>
              <a:t>• NFKC Unicode normalization converts ligature symbols and full-width chars.</a:t>
            </a:r>
          </a:p>
          <a:p>
            <a:pPr>
              <a:spcAft>
                <a:spcPts val="600"/>
              </a:spcAft>
              <a:defRPr sz="1000">
                <a:solidFill>
                  <a:srgbClr val="1E293B"/>
                </a:solidFill>
                <a:latin typeface="Arial"/>
              </a:defRPr>
            </a:pPr>
            <a:r>
              <a:t>• Standardizes curly quotes, em-dashes, and excessive horizontal whitespace.</a:t>
            </a:r>
          </a:p>
          <a:p>
            <a:pPr>
              <a:spcAft>
                <a:spcPts val="600"/>
              </a:spcAft>
              <a:defRPr sz="1000">
                <a:solidFill>
                  <a:srgbClr val="1E293B"/>
                </a:solidFill>
                <a:latin typeface="Arial"/>
              </a:defRPr>
            </a:pPr>
            <a:r>
              <a:t>• Retains section numbering (e.g., 'Section 2.1') and bullet hierarchies.</a:t>
            </a:r>
          </a:p>
        </p:txBody>
      </p:sp>
      <p:sp>
        <p:nvSpPr>
          <p:cNvPr id="11" name="Rounded Rectangle 10"/>
          <p:cNvSpPr/>
          <p:nvPr/>
        </p:nvSpPr>
        <p:spPr>
          <a:xfrm>
            <a:off x="8046720" y="1645920"/>
            <a:ext cx="33832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19072"/>
            <a:ext cx="3017520" cy="365760"/>
          </a:xfrm>
          <a:prstGeom prst="rect">
            <a:avLst/>
          </a:prstGeom>
          <a:noFill/>
        </p:spPr>
        <p:txBody>
          <a:bodyPr wrap="square">
            <a:spAutoFit/>
          </a:bodyPr>
          <a:lstStyle/>
          <a:p>
            <a:pPr>
              <a:defRPr sz="1400" b="1">
                <a:solidFill>
                  <a:srgbClr val="1E293B"/>
                </a:solidFill>
                <a:latin typeface="Arial"/>
              </a:defRPr>
            </a:pPr>
            <a:r>
              <a:t>3. Page Metadata Injection</a:t>
            </a:r>
          </a:p>
        </p:txBody>
      </p:sp>
      <p:sp>
        <p:nvSpPr>
          <p:cNvPr id="14" name="TextBox 13"/>
          <p:cNvSpPr txBox="1"/>
          <p:nvPr/>
        </p:nvSpPr>
        <p:spPr>
          <a:xfrm>
            <a:off x="8229600" y="2194560"/>
            <a:ext cx="3017520" cy="3657600"/>
          </a:xfrm>
          <a:prstGeom prst="rect">
            <a:avLst/>
          </a:prstGeom>
          <a:noFill/>
        </p:spPr>
        <p:txBody>
          <a:bodyPr wrap="square">
            <a:spAutoFit/>
          </a:bodyPr>
          <a:lstStyle/>
          <a:p>
            <a:pPr>
              <a:spcAft>
                <a:spcPts val="800"/>
              </a:spcAft>
              <a:defRPr sz="1000" b="1">
                <a:solidFill>
                  <a:srgbClr val="1D4ED8"/>
                </a:solidFill>
                <a:latin typeface="Arial"/>
              </a:defRPr>
            </a:pPr>
            <a:r>
              <a:t>Engine: Provable Attribution</a:t>
            </a:r>
          </a:p>
          <a:p>
            <a:pPr>
              <a:spcAft>
                <a:spcPts val="600"/>
              </a:spcAft>
              <a:defRPr sz="1000">
                <a:solidFill>
                  <a:srgbClr val="1E293B"/>
                </a:solidFill>
                <a:latin typeface="Arial"/>
              </a:defRPr>
            </a:pPr>
            <a:r>
              <a:t>• Constructs DocumentPage objects tagged with doc_id and page_number.</a:t>
            </a:r>
          </a:p>
          <a:p>
            <a:pPr>
              <a:spcAft>
                <a:spcPts val="600"/>
              </a:spcAft>
              <a:defRPr sz="1000">
                <a:solidFill>
                  <a:srgbClr val="1E293B"/>
                </a:solidFill>
                <a:latin typeface="Arial"/>
              </a:defRPr>
            </a:pPr>
            <a:r>
              <a:t>• Ensures downstream chunks inherit exact page offsets for citation.</a:t>
            </a:r>
          </a:p>
          <a:p>
            <a:pPr>
              <a:spcAft>
                <a:spcPts val="600"/>
              </a:spcAft>
              <a:defRPr sz="1000">
                <a:solidFill>
                  <a:srgbClr val="1E293B"/>
                </a:solidFill>
                <a:latin typeface="Arial"/>
              </a:defRPr>
            </a:pPr>
            <a:r>
              <a:t>• Protects alphanumeric policy codes (e.g., 'ATU/RO/2025/1102').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5: NLP TECHNIQUES &amp; ALGORITHMS</a:t>
            </a:r>
          </a:p>
          <a:p>
            <a:pPr>
              <a:spcAft>
                <a:spcPts val="200"/>
              </a:spcAft>
              <a:defRPr sz="2200" b="1">
                <a:solidFill>
                  <a:srgbClr val="1E293B"/>
                </a:solidFill>
                <a:latin typeface="Arial"/>
              </a:defRPr>
            </a:pPr>
            <a:r>
              <a:t>Hierarchical Recursive Character Chunking</a:t>
            </a:r>
          </a:p>
          <a:p>
            <a:pPr>
              <a:defRPr sz="1200">
                <a:solidFill>
                  <a:srgbClr val="64748B"/>
                </a:solidFill>
                <a:latin typeface="Arial"/>
              </a:defRPr>
            </a:pPr>
            <a:r>
              <a:t>Maintaining semantic cohesion with boundary overlap management</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Hierarchical Splitting Logic</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E293B"/>
                </a:solidFill>
                <a:latin typeface="Arial"/>
              </a:defRPr>
            </a:pPr>
            <a:r>
              <a:t>• Priority 1: Double Newline (\n\n)</a:t>
            </a:r>
          </a:p>
          <a:p>
            <a:pPr>
              <a:spcAft>
                <a:spcPts val="600"/>
              </a:spcAft>
              <a:defRPr sz="1000">
                <a:solidFill>
                  <a:srgbClr val="64748B"/>
                </a:solidFill>
                <a:latin typeface="Arial"/>
              </a:defRPr>
            </a:pPr>
            <a:r>
              <a:t>  Preserves paragraph and major policy section boundaries.</a:t>
            </a:r>
          </a:p>
          <a:p>
            <a:pPr>
              <a:defRPr sz="1100" b="1">
                <a:solidFill>
                  <a:srgbClr val="1E293B"/>
                </a:solidFill>
                <a:latin typeface="Arial"/>
              </a:defRPr>
            </a:pPr>
            <a:r>
              <a:t>• Priority 2: Single Newline (\n)</a:t>
            </a:r>
          </a:p>
          <a:p>
            <a:pPr>
              <a:spcAft>
                <a:spcPts val="600"/>
              </a:spcAft>
              <a:defRPr sz="1000">
                <a:solidFill>
                  <a:srgbClr val="64748B"/>
                </a:solidFill>
                <a:latin typeface="Arial"/>
              </a:defRPr>
            </a:pPr>
            <a:r>
              <a:t>  Respects bullet points and enumerated rule lists.</a:t>
            </a:r>
          </a:p>
          <a:p>
            <a:pPr>
              <a:defRPr sz="1100" b="1">
                <a:solidFill>
                  <a:srgbClr val="1E293B"/>
                </a:solidFill>
                <a:latin typeface="Arial"/>
              </a:defRPr>
            </a:pPr>
            <a:r>
              <a:t>• Priority 3: Sentence Terminators (. ! ?)</a:t>
            </a:r>
          </a:p>
          <a:p>
            <a:pPr>
              <a:spcAft>
                <a:spcPts val="600"/>
              </a:spcAft>
              <a:defRPr sz="1000">
                <a:solidFill>
                  <a:srgbClr val="64748B"/>
                </a:solidFill>
                <a:latin typeface="Arial"/>
              </a:defRPr>
            </a:pPr>
            <a:r>
              <a:t>  Prevents truncating mid-sentence assertions.</a:t>
            </a:r>
          </a:p>
          <a:p>
            <a:pPr>
              <a:defRPr sz="1100" b="1">
                <a:solidFill>
                  <a:srgbClr val="1E293B"/>
                </a:solidFill>
                <a:latin typeface="Arial"/>
              </a:defRPr>
            </a:pPr>
            <a:r>
              <a:t>• Priority 4: Word Spaces (' ')</a:t>
            </a:r>
          </a:p>
          <a:p>
            <a:pPr>
              <a:spcAft>
                <a:spcPts val="600"/>
              </a:spcAft>
              <a:defRPr sz="1000">
                <a:solidFill>
                  <a:srgbClr val="64748B"/>
                </a:solidFill>
                <a:latin typeface="Arial"/>
              </a:defRPr>
            </a:pPr>
            <a:r>
              <a:t>  Fallback to avoid splitting individual words or figures.</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Chunk Hyperparameters &amp; Metadata</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E293B"/>
                </a:solidFill>
                <a:latin typeface="Arial"/>
              </a:defRPr>
            </a:pPr>
            <a:r>
              <a:t>• Chunk Size = 450 characters: </a:t>
            </a:r>
          </a:p>
          <a:p>
            <a:pPr>
              <a:spcAft>
                <a:spcPts val="600"/>
              </a:spcAft>
              <a:defRPr sz="1000">
                <a:solidFill>
                  <a:srgbClr val="64748B"/>
                </a:solidFill>
                <a:latin typeface="Arial"/>
              </a:defRPr>
            </a:pPr>
            <a:r>
              <a:t>  Balances semantic specificity against context completeness (~85 words).</a:t>
            </a:r>
          </a:p>
          <a:p>
            <a:pPr>
              <a:defRPr sz="1100" b="1">
                <a:solidFill>
                  <a:srgbClr val="1E293B"/>
                </a:solidFill>
                <a:latin typeface="Arial"/>
              </a:defRPr>
            </a:pPr>
            <a:r>
              <a:t>• Chunk Overlap = 80 characters: </a:t>
            </a:r>
          </a:p>
          <a:p>
            <a:pPr>
              <a:spcAft>
                <a:spcPts val="600"/>
              </a:spcAft>
              <a:defRPr sz="1000">
                <a:solidFill>
                  <a:srgbClr val="64748B"/>
                </a:solidFill>
                <a:latin typeface="Arial"/>
              </a:defRPr>
            </a:pPr>
            <a:r>
              <a:t>  Maintains cross-chunk continuity, preventing critical clauses from being cut at the edge.</a:t>
            </a:r>
          </a:p>
          <a:p>
            <a:pPr>
              <a:defRPr sz="1100" b="1">
                <a:solidFill>
                  <a:srgbClr val="1E293B"/>
                </a:solidFill>
                <a:latin typeface="Arial"/>
              </a:defRPr>
            </a:pPr>
            <a:r>
              <a:t>• Deterministic Chunk ID: </a:t>
            </a:r>
          </a:p>
          <a:p>
            <a:pPr>
              <a:spcAft>
                <a:spcPts val="600"/>
              </a:spcAft>
              <a:defRPr sz="1000">
                <a:solidFill>
                  <a:srgbClr val="64748B"/>
                </a:solidFill>
                <a:latin typeface="Arial"/>
              </a:defRPr>
            </a:pPr>
            <a:r>
              <a:t>  Unique format: '{doc_name}_p{page_num}_c{chunk_idx}' (e.g. university_academic_regulations_2025_p2_c1).</a:t>
            </a:r>
          </a:p>
          <a:p>
            <a:pPr>
              <a:defRPr sz="1100" b="1">
                <a:solidFill>
                  <a:srgbClr val="1E293B"/>
                </a:solidFill>
                <a:latin typeface="Arial"/>
              </a:defRPr>
            </a:pPr>
            <a:r>
              <a:t>• Token &amp; Word Statistics: </a:t>
            </a:r>
          </a:p>
          <a:p>
            <a:pPr>
              <a:spcAft>
                <a:spcPts val="600"/>
              </a:spcAft>
              <a:defRPr sz="1000">
                <a:solidFill>
                  <a:srgbClr val="64748B"/>
                </a:solidFill>
                <a:latin typeface="Arial"/>
              </a:defRPr>
            </a:pPr>
            <a:r>
              <a:t>  Tracks word counts and character spans to guide retrieval confidence weighting.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5: NLP TECHNIQUES &amp; ALGORITHMS</a:t>
            </a:r>
          </a:p>
          <a:p>
            <a:pPr>
              <a:spcAft>
                <a:spcPts val="200"/>
              </a:spcAft>
              <a:defRPr sz="2200" b="1">
                <a:solidFill>
                  <a:srgbClr val="1E293B"/>
                </a:solidFill>
                <a:latin typeface="Arial"/>
              </a:defRPr>
            </a:pPr>
            <a:r>
              <a:t>Dense Vector Embeddings &amp; Similarity Metric</a:t>
            </a:r>
          </a:p>
          <a:p>
            <a:pPr>
              <a:defRPr sz="1200">
                <a:solidFill>
                  <a:srgbClr val="64748B"/>
                </a:solidFill>
                <a:latin typeface="Arial"/>
              </a:defRPr>
            </a:pPr>
            <a:r>
              <a:t>Mapping textual semantics into continuous vector space via all-MiniLM-L6-v2</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Embedding Model Architecture</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E293B"/>
                </a:solidFill>
                <a:latin typeface="Arial"/>
              </a:defRPr>
            </a:pPr>
            <a:r>
              <a:t>• Model: </a:t>
            </a:r>
          </a:p>
          <a:p>
            <a:pPr>
              <a:spcAft>
                <a:spcPts val="600"/>
              </a:spcAft>
              <a:defRPr sz="1050">
                <a:solidFill>
                  <a:srgbClr val="64748B"/>
                </a:solidFill>
                <a:latin typeface="Arial"/>
              </a:defRPr>
            </a:pPr>
            <a:r>
              <a:t>  sentence-transformers/all-MiniLM-L6-v2</a:t>
            </a:r>
          </a:p>
          <a:p>
            <a:pPr>
              <a:defRPr sz="1100" b="1">
                <a:solidFill>
                  <a:srgbClr val="1E293B"/>
                </a:solidFill>
                <a:latin typeface="Arial"/>
              </a:defRPr>
            </a:pPr>
            <a:r>
              <a:t>• Dimensions: </a:t>
            </a:r>
          </a:p>
          <a:p>
            <a:pPr>
              <a:spcAft>
                <a:spcPts val="600"/>
              </a:spcAft>
              <a:defRPr sz="1050">
                <a:solidFill>
                  <a:srgbClr val="64748B"/>
                </a:solidFill>
                <a:latin typeface="Arial"/>
              </a:defRPr>
            </a:pPr>
            <a:r>
              <a:t>  384 dense floating-point dimensions</a:t>
            </a:r>
          </a:p>
          <a:p>
            <a:pPr>
              <a:defRPr sz="1100" b="1">
                <a:solidFill>
                  <a:srgbClr val="1E293B"/>
                </a:solidFill>
                <a:latin typeface="Arial"/>
              </a:defRPr>
            </a:pPr>
            <a:r>
              <a:t>• Backbone: </a:t>
            </a:r>
          </a:p>
          <a:p>
            <a:pPr>
              <a:spcAft>
                <a:spcPts val="600"/>
              </a:spcAft>
              <a:defRPr sz="1050">
                <a:solidFill>
                  <a:srgbClr val="64748B"/>
                </a:solidFill>
                <a:latin typeface="Arial"/>
              </a:defRPr>
            </a:pPr>
            <a:r>
              <a:t>  6-layer MiniLM distilled Transformer with 22.7M parameters</a:t>
            </a:r>
          </a:p>
          <a:p>
            <a:pPr>
              <a:defRPr sz="1100" b="1">
                <a:solidFill>
                  <a:srgbClr val="1E293B"/>
                </a:solidFill>
                <a:latin typeface="Arial"/>
              </a:defRPr>
            </a:pPr>
            <a:r>
              <a:t>• Inference Speed: </a:t>
            </a:r>
          </a:p>
          <a:p>
            <a:pPr>
              <a:spcAft>
                <a:spcPts val="600"/>
              </a:spcAft>
              <a:defRPr sz="1050">
                <a:solidFill>
                  <a:srgbClr val="64748B"/>
                </a:solidFill>
                <a:latin typeface="Arial"/>
              </a:defRPr>
            </a:pPr>
            <a:r>
              <a:t>  Under 35ms per query batch on CPU; hardware accelerated on Apple Silicon MPS / CUDA</a:t>
            </a:r>
          </a:p>
          <a:p>
            <a:pPr>
              <a:defRPr sz="1100" b="1">
                <a:solidFill>
                  <a:srgbClr val="1E293B"/>
                </a:solidFill>
                <a:latin typeface="Arial"/>
              </a:defRPr>
            </a:pPr>
            <a:r>
              <a:t>• Context Length: </a:t>
            </a:r>
          </a:p>
          <a:p>
            <a:pPr>
              <a:spcAft>
                <a:spcPts val="600"/>
              </a:spcAft>
              <a:defRPr sz="1050">
                <a:solidFill>
                  <a:srgbClr val="64748B"/>
                </a:solidFill>
                <a:latin typeface="Arial"/>
              </a:defRPr>
            </a:pPr>
            <a:r>
              <a:t>  256 wordpiece tokens, perfectly matching our 450-char chunking strategy</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L2 Normalization &amp; Cosine Similarity</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E293B"/>
                </a:solidFill>
                <a:latin typeface="Arial"/>
              </a:defRPr>
            </a:pPr>
            <a:r>
              <a:t>• Unit Normalization: </a:t>
            </a:r>
          </a:p>
          <a:p>
            <a:pPr>
              <a:spcAft>
                <a:spcPts val="600"/>
              </a:spcAft>
              <a:defRPr sz="1050">
                <a:solidFill>
                  <a:srgbClr val="64748B"/>
                </a:solidFill>
                <a:latin typeface="Arial"/>
              </a:defRPr>
            </a:pPr>
            <a:r>
              <a:t>  Every embedding vector is normalized to unit length: ||v||_2 = 1.0</a:t>
            </a:r>
          </a:p>
          <a:p>
            <a:pPr>
              <a:defRPr sz="1100" b="1">
                <a:solidFill>
                  <a:srgbClr val="1E293B"/>
                </a:solidFill>
                <a:latin typeface="Arial"/>
              </a:defRPr>
            </a:pPr>
            <a:r>
              <a:t>• Inner Product Equivalence: </a:t>
            </a:r>
          </a:p>
          <a:p>
            <a:pPr>
              <a:spcAft>
                <a:spcPts val="600"/>
              </a:spcAft>
              <a:defRPr sz="1050">
                <a:solidFill>
                  <a:srgbClr val="64748B"/>
                </a:solidFill>
                <a:latin typeface="Arial"/>
              </a:defRPr>
            </a:pPr>
            <a:r>
              <a:t>  When vectors are normalized, inner product equals cosine similarity:</a:t>
            </a:r>
          </a:p>
          <a:p>
            <a:pPr>
              <a:defRPr sz="1100" b="1">
                <a:solidFill>
                  <a:srgbClr val="1E293B"/>
                </a:solidFill>
                <a:latin typeface="Arial"/>
              </a:defRPr>
            </a:pPr>
            <a:r>
              <a:t>• Formula: </a:t>
            </a:r>
          </a:p>
          <a:p>
            <a:pPr>
              <a:spcAft>
                <a:spcPts val="600"/>
              </a:spcAft>
              <a:defRPr sz="1050">
                <a:solidFill>
                  <a:srgbClr val="64748B"/>
                </a:solidFill>
                <a:latin typeface="Arial"/>
              </a:defRPr>
            </a:pPr>
            <a:r>
              <a:t>  Sim(q, d) = (q · d) / (||q|| · ||d||) = q · d</a:t>
            </a:r>
          </a:p>
          <a:p>
            <a:pPr>
              <a:defRPr sz="1100" b="1">
                <a:solidFill>
                  <a:srgbClr val="1E293B"/>
                </a:solidFill>
                <a:latin typeface="Arial"/>
              </a:defRPr>
            </a:pPr>
            <a:r>
              <a:t>• FAISS IndexFlatIP: </a:t>
            </a:r>
          </a:p>
          <a:p>
            <a:pPr>
              <a:spcAft>
                <a:spcPts val="600"/>
              </a:spcAft>
              <a:defRPr sz="1050">
                <a:solidFill>
                  <a:srgbClr val="64748B"/>
                </a:solidFill>
                <a:latin typeface="Arial"/>
              </a:defRPr>
            </a:pPr>
            <a:r>
              <a:t>  Enables exact maximum inner product search in sub-millisecond execution time without index quantization loss.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5: NLP TECHNIQUES &amp; ALGORITHMS</a:t>
            </a:r>
          </a:p>
          <a:p>
            <a:pPr>
              <a:spcAft>
                <a:spcPts val="200"/>
              </a:spcAft>
              <a:defRPr sz="2200" b="1">
                <a:solidFill>
                  <a:srgbClr val="1E293B"/>
                </a:solidFill>
                <a:latin typeface="Arial"/>
              </a:defRPr>
            </a:pPr>
            <a:r>
              <a:t>Hybrid Retrieval: Fusing Dense &amp; Sparse Search</a:t>
            </a:r>
          </a:p>
          <a:p>
            <a:pPr>
              <a:defRPr sz="1200">
                <a:solidFill>
                  <a:srgbClr val="64748B"/>
                </a:solidFill>
                <a:latin typeface="Arial"/>
              </a:defRPr>
            </a:pPr>
            <a:r>
              <a:t>Reciprocal Rank Fusion (RRF) combining semantic understanding with lexical precision</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Why Hybrid Search is Mandatory</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E293B"/>
                </a:solidFill>
                <a:latin typeface="Arial"/>
              </a:defRPr>
            </a:pPr>
            <a:r>
              <a:t>• Dense Semantic Strengths: </a:t>
            </a:r>
          </a:p>
          <a:p>
            <a:pPr>
              <a:spcAft>
                <a:spcPts val="600"/>
              </a:spcAft>
              <a:defRPr sz="1050">
                <a:solidFill>
                  <a:srgbClr val="64748B"/>
                </a:solidFill>
                <a:latin typeface="Arial"/>
              </a:defRPr>
            </a:pPr>
            <a:r>
              <a:t>  Excels at answering conceptual questions ('rules on being sick', 'benefits for having a baby') where wording differs from the document.</a:t>
            </a:r>
          </a:p>
          <a:p>
            <a:pPr>
              <a:defRPr sz="1100" b="1">
                <a:solidFill>
                  <a:srgbClr val="1E293B"/>
                </a:solidFill>
                <a:latin typeface="Arial"/>
              </a:defRPr>
            </a:pPr>
            <a:r>
              <a:t>• Dense Semantic Weakness: </a:t>
            </a:r>
          </a:p>
          <a:p>
            <a:pPr>
              <a:spcAft>
                <a:spcPts val="600"/>
              </a:spcAft>
              <a:defRPr sz="1050">
                <a:solidFill>
                  <a:srgbClr val="64748B"/>
                </a:solidFill>
                <a:latin typeface="Arial"/>
              </a:defRPr>
            </a:pPr>
            <a:r>
              <a:t>  Can fail on exact alphanumeric policy codes, rule numbers ('Section 2.1', 'HR-POL-2025'), and phone numbers ('1800-444-MCMC').</a:t>
            </a:r>
          </a:p>
          <a:p>
            <a:pPr>
              <a:defRPr sz="1100" b="1">
                <a:solidFill>
                  <a:srgbClr val="1E293B"/>
                </a:solidFill>
                <a:latin typeface="Arial"/>
              </a:defRPr>
            </a:pPr>
            <a:r>
              <a:t>• Sparse BM25 Strengths: </a:t>
            </a:r>
          </a:p>
          <a:p>
            <a:pPr>
              <a:spcAft>
                <a:spcPts val="600"/>
              </a:spcAft>
              <a:defRPr sz="1050">
                <a:solidFill>
                  <a:srgbClr val="64748B"/>
                </a:solidFill>
                <a:latin typeface="Arial"/>
              </a:defRPr>
            </a:pPr>
            <a:r>
              <a:t>  Exact term frequency and inverse document frequency scoring for precise policy numbers, percentages, and financial figures.</a:t>
            </a:r>
          </a:p>
          <a:p>
            <a:pPr>
              <a:defRPr sz="1100" b="1">
                <a:solidFill>
                  <a:srgbClr val="1E293B"/>
                </a:solidFill>
                <a:latin typeface="Arial"/>
              </a:defRPr>
            </a:pPr>
            <a:r>
              <a:t>• The Hybrid Synergy: </a:t>
            </a:r>
          </a:p>
          <a:p>
            <a:pPr>
              <a:spcAft>
                <a:spcPts val="600"/>
              </a:spcAft>
              <a:defRPr sz="1050">
                <a:solidFill>
                  <a:srgbClr val="64748B"/>
                </a:solidFill>
                <a:latin typeface="Arial"/>
              </a:defRPr>
            </a:pPr>
            <a:r>
              <a:t>  Guarantees both high semantic recall and pinpoint lexical precision across varied query formulations.</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Reciprocal Rank Fusion (RRF) Formulation</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E293B"/>
                </a:solidFill>
                <a:latin typeface="Arial"/>
              </a:defRPr>
            </a:pPr>
            <a:r>
              <a:t>• Mathematical Formulation: </a:t>
            </a:r>
          </a:p>
          <a:p>
            <a:pPr>
              <a:spcAft>
                <a:spcPts val="600"/>
              </a:spcAft>
              <a:defRPr sz="1050">
                <a:solidFill>
                  <a:srgbClr val="64748B"/>
                </a:solidFill>
                <a:latin typeface="Arial"/>
              </a:defRPr>
            </a:pPr>
            <a:r>
              <a:t>  RRF(d) = sum( 1 / (k + rank_m(d)) ) for m in {dense, sparse}</a:t>
            </a:r>
          </a:p>
          <a:p>
            <a:pPr>
              <a:defRPr sz="1100" b="1">
                <a:solidFill>
                  <a:srgbClr val="1E293B"/>
                </a:solidFill>
                <a:latin typeface="Arial"/>
              </a:defRPr>
            </a:pPr>
            <a:r>
              <a:t>• Smoothing Constant (k = 60): </a:t>
            </a:r>
          </a:p>
          <a:p>
            <a:pPr>
              <a:spcAft>
                <a:spcPts val="600"/>
              </a:spcAft>
              <a:defRPr sz="1050">
                <a:solidFill>
                  <a:srgbClr val="64748B"/>
                </a:solidFill>
                <a:latin typeface="Arial"/>
              </a:defRPr>
            </a:pPr>
            <a:r>
              <a:t>  Prevents top-ranked outliers in one retrieval list from disproportionately dominating the combined score.</a:t>
            </a:r>
          </a:p>
          <a:p>
            <a:pPr>
              <a:defRPr sz="1100" b="1">
                <a:solidFill>
                  <a:srgbClr val="1E293B"/>
                </a:solidFill>
                <a:latin typeface="Arial"/>
              </a:defRPr>
            </a:pPr>
            <a:r>
              <a:t>• Score Normalization: </a:t>
            </a:r>
          </a:p>
          <a:p>
            <a:pPr>
              <a:spcAft>
                <a:spcPts val="600"/>
              </a:spcAft>
              <a:defRPr sz="1050">
                <a:solidFill>
                  <a:srgbClr val="64748B"/>
                </a:solidFill>
                <a:latin typeface="Arial"/>
              </a:defRPr>
            </a:pPr>
            <a:r>
              <a:t>  Normalized by dividing by theoretical maximum: 2 / (k + 1), mapping fused scores smoothly into [0, 1].</a:t>
            </a:r>
          </a:p>
          <a:p>
            <a:pPr>
              <a:defRPr sz="1100" b="1">
                <a:solidFill>
                  <a:srgbClr val="1E293B"/>
                </a:solidFill>
                <a:latin typeface="Arial"/>
              </a:defRPr>
            </a:pPr>
            <a:r>
              <a:t>• Empirical Benefit: </a:t>
            </a:r>
          </a:p>
          <a:p>
            <a:pPr>
              <a:spcAft>
                <a:spcPts val="600"/>
              </a:spcAft>
              <a:defRPr sz="1050">
                <a:solidFill>
                  <a:srgbClr val="64748B"/>
                </a:solidFill>
                <a:latin typeface="Arial"/>
              </a:defRPr>
            </a:pPr>
            <a:r>
              <a:t>  Achieves 100.0% Hit Rate@1 and Hit Rate@3 on domain test queries, outperforming dense-only or BM25-only baselines.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5: NLP TECHNIQUES &amp; ALGORITHMS</a:t>
            </a:r>
          </a:p>
          <a:p>
            <a:pPr>
              <a:spcAft>
                <a:spcPts val="200"/>
              </a:spcAft>
              <a:defRPr sz="2200" b="1">
                <a:solidFill>
                  <a:srgbClr val="1E293B"/>
                </a:solidFill>
                <a:latin typeface="Arial"/>
              </a:defRPr>
            </a:pPr>
            <a:r>
              <a:t>Cross-Encoder Neural Reranking</a:t>
            </a:r>
          </a:p>
          <a:p>
            <a:pPr>
              <a:defRPr sz="1200">
                <a:solidFill>
                  <a:srgbClr val="64748B"/>
                </a:solidFill>
                <a:latin typeface="Arial"/>
              </a:defRPr>
            </a:pPr>
            <a:r>
              <a:t>Fine-grained token-level cross-attention using cross-encoder/ms-marco-MiniLM-L-6-v2</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Bi-Encoder vs. Cross-Encoder</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E293B"/>
                </a:solidFill>
                <a:latin typeface="Arial"/>
              </a:defRPr>
            </a:pPr>
            <a:r>
              <a:t>• Bi-Encoder (Retriever): </a:t>
            </a:r>
          </a:p>
          <a:p>
            <a:pPr>
              <a:spcAft>
                <a:spcPts val="600"/>
              </a:spcAft>
              <a:defRPr sz="1050">
                <a:solidFill>
                  <a:srgbClr val="64748B"/>
                </a:solidFill>
                <a:latin typeface="Arial"/>
              </a:defRPr>
            </a:pPr>
            <a:r>
              <a:t>  Encodes Query and Document into independent vectors in isolation. Extremely fast for vector search (O(N) dot products), but misses fine-grained token-to-token interactions.</a:t>
            </a:r>
          </a:p>
          <a:p>
            <a:pPr>
              <a:defRPr sz="1100" b="1">
                <a:solidFill>
                  <a:srgbClr val="1E293B"/>
                </a:solidFill>
                <a:latin typeface="Arial"/>
              </a:defRPr>
            </a:pPr>
            <a:r>
              <a:t>• Cross-Encoder (Reranker): </a:t>
            </a:r>
          </a:p>
          <a:p>
            <a:pPr>
              <a:spcAft>
                <a:spcPts val="600"/>
              </a:spcAft>
              <a:defRPr sz="1050">
                <a:solidFill>
                  <a:srgbClr val="64748B"/>
                </a:solidFill>
                <a:latin typeface="Arial"/>
              </a:defRPr>
            </a:pPr>
            <a:r>
              <a:t>  Feeds [CLS] Query [SEP] Document [SEP] jointly into all transformer attention heads simultaneously.</a:t>
            </a:r>
          </a:p>
          <a:p>
            <a:pPr>
              <a:defRPr sz="1100" b="1">
                <a:solidFill>
                  <a:srgbClr val="1E293B"/>
                </a:solidFill>
                <a:latin typeface="Arial"/>
              </a:defRPr>
            </a:pPr>
            <a:r>
              <a:t>• Full Cross-Attention: </a:t>
            </a:r>
          </a:p>
          <a:p>
            <a:pPr>
              <a:spcAft>
                <a:spcPts val="600"/>
              </a:spcAft>
              <a:defRPr sz="1050">
                <a:solidFill>
                  <a:srgbClr val="64748B"/>
                </a:solidFill>
                <a:latin typeface="Arial"/>
              </a:defRPr>
            </a:pPr>
            <a:r>
              <a:t>  Allows every word in the query to attend directly to every word in the document clause, capturing exact conditional logic.</a:t>
            </a:r>
          </a:p>
          <a:p>
            <a:pPr>
              <a:defRPr sz="1100" b="1">
                <a:solidFill>
                  <a:srgbClr val="1E293B"/>
                </a:solidFill>
                <a:latin typeface="Arial"/>
              </a:defRPr>
            </a:pPr>
            <a:r>
              <a:t>• Two-Stage Architecture: </a:t>
            </a:r>
          </a:p>
          <a:p>
            <a:pPr>
              <a:spcAft>
                <a:spcPts val="600"/>
              </a:spcAft>
              <a:defRPr sz="1050">
                <a:solidFill>
                  <a:srgbClr val="64748B"/>
                </a:solidFill>
                <a:latin typeface="Arial"/>
              </a:defRPr>
            </a:pPr>
            <a:r>
              <a:t>  Stage 1 retrieves top 12 candidates fast; Stage 2 reranks them deeply to return top 3.</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Sigmoid Calibration &amp; Confidence Scoring</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E293B"/>
                </a:solidFill>
                <a:latin typeface="Arial"/>
              </a:defRPr>
            </a:pPr>
            <a:r>
              <a:t>• Raw Logit Output: </a:t>
            </a:r>
          </a:p>
          <a:p>
            <a:pPr>
              <a:spcAft>
                <a:spcPts val="600"/>
              </a:spcAft>
              <a:defRPr sz="1050">
                <a:solidFill>
                  <a:srgbClr val="64748B"/>
                </a:solidFill>
                <a:latin typeface="Arial"/>
              </a:defRPr>
            </a:pPr>
            <a:r>
              <a:t>  The model outputs an unbounded real logit z in (-inf, +inf) representing relevance log-odds.</a:t>
            </a:r>
          </a:p>
          <a:p>
            <a:pPr>
              <a:defRPr sz="1100" b="1">
                <a:solidFill>
                  <a:srgbClr val="1E293B"/>
                </a:solidFill>
                <a:latin typeface="Arial"/>
              </a:defRPr>
            </a:pPr>
            <a:r>
              <a:t>• Logistic Sigmoid Function: </a:t>
            </a:r>
          </a:p>
          <a:p>
            <a:pPr>
              <a:spcAft>
                <a:spcPts val="600"/>
              </a:spcAft>
              <a:defRPr sz="1050">
                <a:solidFill>
                  <a:srgbClr val="64748B"/>
                </a:solidFill>
                <a:latin typeface="Arial"/>
              </a:defRPr>
            </a:pPr>
            <a:r>
              <a:t>  sigma(z) = 1 / (1 + e^(-z))</a:t>
            </a:r>
          </a:p>
          <a:p>
            <a:pPr>
              <a:defRPr sz="1100" b="1">
                <a:solidFill>
                  <a:srgbClr val="1E293B"/>
                </a:solidFill>
                <a:latin typeface="Arial"/>
              </a:defRPr>
            </a:pPr>
            <a:r>
              <a:t>• Calibrated Probability in [0, 1]: </a:t>
            </a:r>
          </a:p>
          <a:p>
            <a:pPr>
              <a:spcAft>
                <a:spcPts val="600"/>
              </a:spcAft>
              <a:defRPr sz="1050">
                <a:solidFill>
                  <a:srgbClr val="64748B"/>
                </a:solidFill>
                <a:latin typeface="Arial"/>
              </a:defRPr>
            </a:pPr>
            <a:r>
              <a:t>  Maps raw logits to an interpretable confidence probability.</a:t>
            </a:r>
          </a:p>
          <a:p>
            <a:pPr>
              <a:defRPr sz="1100" b="1">
                <a:solidFill>
                  <a:srgbClr val="1E293B"/>
                </a:solidFill>
                <a:latin typeface="Arial"/>
              </a:defRPr>
            </a:pPr>
            <a:r>
              <a:t>• Dual Role: </a:t>
            </a:r>
          </a:p>
          <a:p>
            <a:pPr>
              <a:spcAft>
                <a:spcPts val="600"/>
              </a:spcAft>
              <a:defRPr sz="1050">
                <a:solidFill>
                  <a:srgbClr val="64748B"/>
                </a:solidFill>
                <a:latin typeface="Arial"/>
              </a:defRPr>
            </a:pPr>
            <a:r>
              <a:t>  1. Re-sorts retrieved passages to place the most precise clause at Rank 1.</a:t>
            </a:r>
            <a:br/>
            <a:r>
              <a:t>2. Serves as the primary quantitative metric for the Out-of-Domain Refusal Guardrail.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5: NLP TECHNIQUES &amp; ALGORITHMS</a:t>
            </a:r>
          </a:p>
          <a:p>
            <a:pPr>
              <a:spcAft>
                <a:spcPts val="200"/>
              </a:spcAft>
              <a:defRPr sz="2200" b="1">
                <a:solidFill>
                  <a:srgbClr val="1E293B"/>
                </a:solidFill>
                <a:latin typeface="Arial"/>
              </a:defRPr>
            </a:pPr>
            <a:r>
              <a:t>Hallucination Guardrails &amp; Refusal Architecture</a:t>
            </a:r>
          </a:p>
          <a:p>
            <a:pPr>
              <a:defRPr sz="1200">
                <a:solidFill>
                  <a:srgbClr val="64748B"/>
                </a:solidFill>
                <a:latin typeface="Arial"/>
              </a:defRPr>
            </a:pPr>
            <a:r>
              <a:t>Identifying out-of-domain and unanswerable queries to prevent false claims</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Multi-Tier Guardrail Verification</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E293B"/>
                </a:solidFill>
                <a:latin typeface="Arial"/>
              </a:defRPr>
            </a:pPr>
            <a:r>
              <a:t>• Tier 1: Confidence Threshold Check (tau = 0.20): </a:t>
            </a:r>
          </a:p>
          <a:p>
            <a:pPr>
              <a:spcAft>
                <a:spcPts val="600"/>
              </a:spcAft>
              <a:defRPr sz="1050">
                <a:solidFill>
                  <a:srgbClr val="64748B"/>
                </a:solidFill>
                <a:latin typeface="Arial"/>
              </a:defRPr>
            </a:pPr>
            <a:r>
              <a:t>  If the top reranker score falls below 0.20 (or similarity &lt; 0.35), the query is immediately flagged as unanswerable.</a:t>
            </a:r>
          </a:p>
          <a:p>
            <a:pPr>
              <a:defRPr sz="1100" b="1">
                <a:solidFill>
                  <a:srgbClr val="1E293B"/>
                </a:solidFill>
                <a:latin typeface="Arial"/>
              </a:defRPr>
            </a:pPr>
            <a:r>
              <a:t>• Tier 2: Key Entity Lexical Overlap Check: </a:t>
            </a:r>
          </a:p>
          <a:p>
            <a:pPr>
              <a:spcAft>
                <a:spcPts val="600"/>
              </a:spcAft>
              <a:defRPr sz="1050">
                <a:solidFill>
                  <a:srgbClr val="64748B"/>
                </a:solidFill>
                <a:latin typeface="Arial"/>
              </a:defRPr>
            </a:pPr>
            <a:r>
              <a:t>  Extracts content terms (excluding stopwords). If key query nouns have 0% presence in the top passages and confidence is marginal, refusal triggers.</a:t>
            </a:r>
          </a:p>
          <a:p>
            <a:pPr>
              <a:defRPr sz="1100" b="1">
                <a:solidFill>
                  <a:srgbClr val="1E293B"/>
                </a:solidFill>
                <a:latin typeface="Arial"/>
              </a:defRPr>
            </a:pPr>
            <a:r>
              <a:t>• Tier 3: Domain Semantic Divergence: </a:t>
            </a:r>
          </a:p>
          <a:p>
            <a:pPr>
              <a:spcAft>
                <a:spcPts val="600"/>
              </a:spcAft>
              <a:defRPr sz="1050">
                <a:solidFill>
                  <a:srgbClr val="64748B"/>
                </a:solidFill>
                <a:latin typeface="Arial"/>
              </a:defRPr>
            </a:pPr>
            <a:r>
              <a:t>  Detects general knowledge questions (e.g., 'Capital of Australia', 'baking cookies') that have zero overlap with institutional regulations.</a:t>
            </a:r>
          </a:p>
          <a:p>
            <a:pPr>
              <a:defRPr sz="1100" b="1">
                <a:solidFill>
                  <a:srgbClr val="1E293B"/>
                </a:solidFill>
                <a:latin typeface="Arial"/>
              </a:defRPr>
            </a:pPr>
            <a:r>
              <a:t>• Refusal Accuracy Benchmark: </a:t>
            </a:r>
          </a:p>
          <a:p>
            <a:pPr>
              <a:spcAft>
                <a:spcPts val="600"/>
              </a:spcAft>
              <a:defRPr sz="1050">
                <a:solidFill>
                  <a:srgbClr val="64748B"/>
                </a:solidFill>
                <a:latin typeface="Arial"/>
              </a:defRPr>
            </a:pPr>
            <a:r>
              <a:t>  Achieved 93.3% True Negative refusal accuracy on test suite.</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Structured Refusal vs. Grounded Answer</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E293B"/>
                </a:solidFill>
                <a:latin typeface="Arial"/>
              </a:defRPr>
            </a:pPr>
            <a:r>
              <a:t>• Case A: Out-of-Domain Refusal: </a:t>
            </a:r>
          </a:p>
          <a:p>
            <a:pPr>
              <a:spcAft>
                <a:spcPts val="600"/>
              </a:spcAft>
              <a:defRPr sz="1000">
                <a:solidFill>
                  <a:srgbClr val="64748B"/>
                </a:solidFill>
                <a:latin typeface="Arial"/>
              </a:defRPr>
            </a:pPr>
            <a:r>
              <a:t>  Query: 'What is the capital of Australia?'</a:t>
            </a:r>
            <a:br/>
            <a:r>
              <a:t>Verdict: REFUSED (Score: 0.000 &lt; 0.20 threshold).</a:t>
            </a:r>
            <a:br/>
            <a:r>
              <a:t>Output: 'Information Notice: I cannot reliably answer this question based on available documents... To prevent hallucinations, ungrounded queries are safely declined.'</a:t>
            </a:r>
          </a:p>
          <a:p>
            <a:pPr>
              <a:defRPr sz="1100" b="1">
                <a:solidFill>
                  <a:srgbClr val="1E293B"/>
                </a:solidFill>
                <a:latin typeface="Arial"/>
              </a:defRPr>
            </a:pPr>
            <a:r>
              <a:t>• Case B: In-Domain Grounded Answer: </a:t>
            </a:r>
          </a:p>
          <a:p>
            <a:pPr>
              <a:spcAft>
                <a:spcPts val="600"/>
              </a:spcAft>
              <a:defRPr sz="1000">
                <a:solidFill>
                  <a:srgbClr val="64748B"/>
                </a:solidFill>
                <a:latin typeface="Arial"/>
              </a:defRPr>
            </a:pPr>
            <a:r>
              <a:t>  Query: 'What is the minimum attendance required?'</a:t>
            </a:r>
            <a:br/>
            <a:r>
              <a:t>Verdict: GROUNDED (Score: 0.563 &gt; 0.20 threshold).</a:t>
            </a:r>
            <a:br/>
            <a:r>
              <a:t>Output: 'Minimum attendance of 75% required across lectures, tutorials, and practicals. [Ref: university_academic_regulations_2025.pdf, Page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6: SYSTEM ARCHITECTURE OR WORKFLOW</a:t>
            </a:r>
          </a:p>
          <a:p>
            <a:pPr>
              <a:spcAft>
                <a:spcPts val="200"/>
              </a:spcAft>
              <a:defRPr sz="2200" b="1">
                <a:solidFill>
                  <a:srgbClr val="1E293B"/>
                </a:solidFill>
                <a:latin typeface="Arial"/>
              </a:defRPr>
            </a:pPr>
            <a:r>
              <a:t>End-to-End System Architecture &amp; Data Flow</a:t>
            </a:r>
          </a:p>
          <a:p>
            <a:pPr>
              <a:defRPr sz="1200">
                <a:solidFill>
                  <a:srgbClr val="64748B"/>
                </a:solidFill>
                <a:latin typeface="Arial"/>
              </a:defRPr>
            </a:pPr>
            <a:r>
              <a:t>A modular 6-stage pipeline from document ingestion to cited generation</a:t>
            </a:r>
          </a:p>
        </p:txBody>
      </p:sp>
      <p:sp>
        <p:nvSpPr>
          <p:cNvPr id="3" name="Rounded Rectangle 2"/>
          <p:cNvSpPr/>
          <p:nvPr/>
        </p:nvSpPr>
        <p:spPr>
          <a:xfrm>
            <a:off x="731520" y="164592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3017520" cy="365760"/>
          </a:xfrm>
          <a:prstGeom prst="rect">
            <a:avLst/>
          </a:prstGeom>
          <a:noFill/>
        </p:spPr>
        <p:txBody>
          <a:bodyPr wrap="square">
            <a:spAutoFit/>
          </a:bodyPr>
          <a:lstStyle/>
          <a:p>
            <a:pPr>
              <a:defRPr sz="1400" b="1">
                <a:solidFill>
                  <a:srgbClr val="1E293B"/>
                </a:solidFill>
                <a:latin typeface="Arial"/>
              </a:defRPr>
            </a:pPr>
            <a:r>
              <a:t>1. Ingestion &amp; Preprocessing</a:t>
            </a:r>
          </a:p>
        </p:txBody>
      </p:sp>
      <p:sp>
        <p:nvSpPr>
          <p:cNvPr id="6" name="TextBox 5"/>
          <p:cNvSpPr txBox="1"/>
          <p:nvPr/>
        </p:nvSpPr>
        <p:spPr>
          <a:xfrm>
            <a:off x="914400" y="2194560"/>
            <a:ext cx="3017520" cy="1554480"/>
          </a:xfrm>
          <a:prstGeom prst="rect">
            <a:avLst/>
          </a:prstGeom>
          <a:noFill/>
        </p:spPr>
        <p:txBody>
          <a:bodyPr wrap="square">
            <a:spAutoFit/>
          </a:bodyPr>
          <a:lstStyle/>
          <a:p>
            <a:pPr>
              <a:spcAft>
                <a:spcPts val="300"/>
              </a:spcAft>
              <a:defRPr sz="1050">
                <a:solidFill>
                  <a:srgbClr val="1E293B"/>
                </a:solidFill>
                <a:latin typeface="Arial"/>
              </a:defRPr>
            </a:pPr>
            <a:r>
              <a:t>✔ PDF/DOCX/TXT Parser</a:t>
            </a:r>
          </a:p>
          <a:p>
            <a:pPr>
              <a:spcAft>
                <a:spcPts val="300"/>
              </a:spcAft>
              <a:defRPr sz="1050">
                <a:solidFill>
                  <a:srgbClr val="1E293B"/>
                </a:solidFill>
                <a:latin typeface="Arial"/>
              </a:defRPr>
            </a:pPr>
            <a:r>
              <a:t>✔ Unicode Normalizer</a:t>
            </a:r>
          </a:p>
          <a:p>
            <a:pPr>
              <a:spcAft>
                <a:spcPts val="300"/>
              </a:spcAft>
              <a:defRPr sz="1050">
                <a:solidFill>
                  <a:srgbClr val="1E293B"/>
                </a:solidFill>
                <a:latin typeface="Arial"/>
              </a:defRPr>
            </a:pPr>
            <a:r>
              <a:t>✔ Page Metadata Tracker</a:t>
            </a:r>
          </a:p>
        </p:txBody>
      </p:sp>
      <p:sp>
        <p:nvSpPr>
          <p:cNvPr id="7" name="Rounded Rectangle 6"/>
          <p:cNvSpPr/>
          <p:nvPr/>
        </p:nvSpPr>
        <p:spPr>
          <a:xfrm>
            <a:off x="4389120" y="164592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719072"/>
            <a:ext cx="3017520" cy="365760"/>
          </a:xfrm>
          <a:prstGeom prst="rect">
            <a:avLst/>
          </a:prstGeom>
          <a:noFill/>
        </p:spPr>
        <p:txBody>
          <a:bodyPr wrap="square">
            <a:spAutoFit/>
          </a:bodyPr>
          <a:lstStyle/>
          <a:p>
            <a:pPr>
              <a:defRPr sz="1400" b="1">
                <a:solidFill>
                  <a:srgbClr val="1E293B"/>
                </a:solidFill>
                <a:latin typeface="Arial"/>
              </a:defRPr>
            </a:pPr>
            <a:r>
              <a:t>2. Chunking &amp; Embeddings</a:t>
            </a:r>
          </a:p>
        </p:txBody>
      </p:sp>
      <p:sp>
        <p:nvSpPr>
          <p:cNvPr id="10" name="TextBox 9"/>
          <p:cNvSpPr txBox="1"/>
          <p:nvPr/>
        </p:nvSpPr>
        <p:spPr>
          <a:xfrm>
            <a:off x="4572000" y="2194560"/>
            <a:ext cx="3017520" cy="1554480"/>
          </a:xfrm>
          <a:prstGeom prst="rect">
            <a:avLst/>
          </a:prstGeom>
          <a:noFill/>
        </p:spPr>
        <p:txBody>
          <a:bodyPr wrap="square">
            <a:spAutoFit/>
          </a:bodyPr>
          <a:lstStyle/>
          <a:p>
            <a:pPr>
              <a:spcAft>
                <a:spcPts val="300"/>
              </a:spcAft>
              <a:defRPr sz="1050">
                <a:solidFill>
                  <a:srgbClr val="1E293B"/>
                </a:solidFill>
                <a:latin typeface="Arial"/>
              </a:defRPr>
            </a:pPr>
            <a:r>
              <a:t>✔ Recursive Character (450 chars)</a:t>
            </a:r>
          </a:p>
          <a:p>
            <a:pPr>
              <a:spcAft>
                <a:spcPts val="300"/>
              </a:spcAft>
              <a:defRPr sz="1050">
                <a:solidFill>
                  <a:srgbClr val="1E293B"/>
                </a:solidFill>
                <a:latin typeface="Arial"/>
              </a:defRPr>
            </a:pPr>
            <a:r>
              <a:t>✔ all-MiniLM-L6-v2 (384-dim)</a:t>
            </a:r>
          </a:p>
          <a:p>
            <a:pPr>
              <a:spcAft>
                <a:spcPts val="300"/>
              </a:spcAft>
              <a:defRPr sz="1050">
                <a:solidFill>
                  <a:srgbClr val="1E293B"/>
                </a:solidFill>
                <a:latin typeface="Arial"/>
              </a:defRPr>
            </a:pPr>
            <a:r>
              <a:t>✔ FAISS IndexFlatIP</a:t>
            </a:r>
          </a:p>
        </p:txBody>
      </p:sp>
      <p:sp>
        <p:nvSpPr>
          <p:cNvPr id="11" name="Rounded Rectangle 10"/>
          <p:cNvSpPr/>
          <p:nvPr/>
        </p:nvSpPr>
        <p:spPr>
          <a:xfrm>
            <a:off x="8046720" y="164592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467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719072"/>
            <a:ext cx="3017520" cy="365760"/>
          </a:xfrm>
          <a:prstGeom prst="rect">
            <a:avLst/>
          </a:prstGeom>
          <a:noFill/>
        </p:spPr>
        <p:txBody>
          <a:bodyPr wrap="square">
            <a:spAutoFit/>
          </a:bodyPr>
          <a:lstStyle/>
          <a:p>
            <a:pPr>
              <a:defRPr sz="1400" b="1">
                <a:solidFill>
                  <a:srgbClr val="1E293B"/>
                </a:solidFill>
                <a:latin typeface="Arial"/>
              </a:defRPr>
            </a:pPr>
            <a:r>
              <a:t>3. Hybrid Retrieval</a:t>
            </a:r>
          </a:p>
        </p:txBody>
      </p:sp>
      <p:sp>
        <p:nvSpPr>
          <p:cNvPr id="14" name="TextBox 13"/>
          <p:cNvSpPr txBox="1"/>
          <p:nvPr/>
        </p:nvSpPr>
        <p:spPr>
          <a:xfrm>
            <a:off x="8229600" y="2194560"/>
            <a:ext cx="3017520" cy="1554480"/>
          </a:xfrm>
          <a:prstGeom prst="rect">
            <a:avLst/>
          </a:prstGeom>
          <a:noFill/>
        </p:spPr>
        <p:txBody>
          <a:bodyPr wrap="square">
            <a:spAutoFit/>
          </a:bodyPr>
          <a:lstStyle/>
          <a:p>
            <a:pPr>
              <a:spcAft>
                <a:spcPts val="300"/>
              </a:spcAft>
              <a:defRPr sz="1050">
                <a:solidFill>
                  <a:srgbClr val="1E293B"/>
                </a:solidFill>
                <a:latin typeface="Arial"/>
              </a:defRPr>
            </a:pPr>
            <a:r>
              <a:t>✔ Dense FAISS Semantic</a:t>
            </a:r>
          </a:p>
          <a:p>
            <a:pPr>
              <a:spcAft>
                <a:spcPts val="300"/>
              </a:spcAft>
              <a:defRPr sz="1050">
                <a:solidFill>
                  <a:srgbClr val="1E293B"/>
                </a:solidFill>
                <a:latin typeface="Arial"/>
              </a:defRPr>
            </a:pPr>
            <a:r>
              <a:t>✔ BM25Okapi Lexical</a:t>
            </a:r>
          </a:p>
          <a:p>
            <a:pPr>
              <a:spcAft>
                <a:spcPts val="300"/>
              </a:spcAft>
              <a:defRPr sz="1050">
                <a:solidFill>
                  <a:srgbClr val="1E293B"/>
                </a:solidFill>
                <a:latin typeface="Arial"/>
              </a:defRPr>
            </a:pPr>
            <a:r>
              <a:t>✔ Reciprocal Rank Fusion</a:t>
            </a:r>
          </a:p>
        </p:txBody>
      </p:sp>
      <p:sp>
        <p:nvSpPr>
          <p:cNvPr id="15" name="Rounded Rectangle 14"/>
          <p:cNvSpPr/>
          <p:nvPr/>
        </p:nvSpPr>
        <p:spPr>
          <a:xfrm>
            <a:off x="731520" y="402336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096512"/>
            <a:ext cx="3017520" cy="365760"/>
          </a:xfrm>
          <a:prstGeom prst="rect">
            <a:avLst/>
          </a:prstGeom>
          <a:noFill/>
        </p:spPr>
        <p:txBody>
          <a:bodyPr wrap="square">
            <a:spAutoFit/>
          </a:bodyPr>
          <a:lstStyle/>
          <a:p>
            <a:pPr>
              <a:defRPr sz="1400" b="1">
                <a:solidFill>
                  <a:srgbClr val="1E293B"/>
                </a:solidFill>
                <a:latin typeface="Arial"/>
              </a:defRPr>
            </a:pPr>
            <a:r>
              <a:t>4. Neural Reranking</a:t>
            </a:r>
          </a:p>
        </p:txBody>
      </p:sp>
      <p:sp>
        <p:nvSpPr>
          <p:cNvPr id="18" name="TextBox 17"/>
          <p:cNvSpPr txBox="1"/>
          <p:nvPr/>
        </p:nvSpPr>
        <p:spPr>
          <a:xfrm>
            <a:off x="914400" y="4572000"/>
            <a:ext cx="3017520" cy="1554480"/>
          </a:xfrm>
          <a:prstGeom prst="rect">
            <a:avLst/>
          </a:prstGeom>
          <a:noFill/>
        </p:spPr>
        <p:txBody>
          <a:bodyPr wrap="square">
            <a:spAutoFit/>
          </a:bodyPr>
          <a:lstStyle/>
          <a:p>
            <a:pPr>
              <a:spcAft>
                <a:spcPts val="300"/>
              </a:spcAft>
              <a:defRPr sz="1050">
                <a:solidFill>
                  <a:srgbClr val="1E293B"/>
                </a:solidFill>
                <a:latin typeface="Arial"/>
              </a:defRPr>
            </a:pPr>
            <a:r>
              <a:t>✔ Cross-Encoder ms-marco</a:t>
            </a:r>
          </a:p>
          <a:p>
            <a:pPr>
              <a:spcAft>
                <a:spcPts val="300"/>
              </a:spcAft>
              <a:defRPr sz="1050">
                <a:solidFill>
                  <a:srgbClr val="1E293B"/>
                </a:solidFill>
                <a:latin typeface="Arial"/>
              </a:defRPr>
            </a:pPr>
            <a:r>
              <a:t>✔ Joint Cross-Attention</a:t>
            </a:r>
          </a:p>
          <a:p>
            <a:pPr>
              <a:spcAft>
                <a:spcPts val="300"/>
              </a:spcAft>
              <a:defRPr sz="1050">
                <a:solidFill>
                  <a:srgbClr val="1E293B"/>
                </a:solidFill>
                <a:latin typeface="Arial"/>
              </a:defRPr>
            </a:pPr>
            <a:r>
              <a:t>✔ Sigmoid Score Calibration</a:t>
            </a:r>
          </a:p>
        </p:txBody>
      </p:sp>
      <p:sp>
        <p:nvSpPr>
          <p:cNvPr id="19" name="Rounded Rectangle 18"/>
          <p:cNvSpPr/>
          <p:nvPr/>
        </p:nvSpPr>
        <p:spPr>
          <a:xfrm>
            <a:off x="4389120" y="402336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891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0" y="4096512"/>
            <a:ext cx="3017520" cy="365760"/>
          </a:xfrm>
          <a:prstGeom prst="rect">
            <a:avLst/>
          </a:prstGeom>
          <a:noFill/>
        </p:spPr>
        <p:txBody>
          <a:bodyPr wrap="square">
            <a:spAutoFit/>
          </a:bodyPr>
          <a:lstStyle/>
          <a:p>
            <a:pPr>
              <a:defRPr sz="1400" b="1">
                <a:solidFill>
                  <a:srgbClr val="1E293B"/>
                </a:solidFill>
                <a:latin typeface="Arial"/>
              </a:defRPr>
            </a:pPr>
            <a:r>
              <a:t>5. Guardrails &amp; Refusal</a:t>
            </a:r>
          </a:p>
        </p:txBody>
      </p:sp>
      <p:sp>
        <p:nvSpPr>
          <p:cNvPr id="22" name="TextBox 21"/>
          <p:cNvSpPr txBox="1"/>
          <p:nvPr/>
        </p:nvSpPr>
        <p:spPr>
          <a:xfrm>
            <a:off x="4572000" y="4572000"/>
            <a:ext cx="3017520" cy="1554480"/>
          </a:xfrm>
          <a:prstGeom prst="rect">
            <a:avLst/>
          </a:prstGeom>
          <a:noFill/>
        </p:spPr>
        <p:txBody>
          <a:bodyPr wrap="square">
            <a:spAutoFit/>
          </a:bodyPr>
          <a:lstStyle/>
          <a:p>
            <a:pPr>
              <a:spcAft>
                <a:spcPts val="300"/>
              </a:spcAft>
              <a:defRPr sz="1050">
                <a:solidFill>
                  <a:srgbClr val="1E293B"/>
                </a:solidFill>
                <a:latin typeface="Arial"/>
              </a:defRPr>
            </a:pPr>
            <a:r>
              <a:t>✔ Confidence Threshold Check</a:t>
            </a:r>
          </a:p>
          <a:p>
            <a:pPr>
              <a:spcAft>
                <a:spcPts val="300"/>
              </a:spcAft>
              <a:defRPr sz="1050">
                <a:solidFill>
                  <a:srgbClr val="1E293B"/>
                </a:solidFill>
                <a:latin typeface="Arial"/>
              </a:defRPr>
            </a:pPr>
            <a:r>
              <a:t>✔ Lexical Overlap Verification</a:t>
            </a:r>
          </a:p>
          <a:p>
            <a:pPr>
              <a:spcAft>
                <a:spcPts val="300"/>
              </a:spcAft>
              <a:defRPr sz="1050">
                <a:solidFill>
                  <a:srgbClr val="1E293B"/>
                </a:solidFill>
                <a:latin typeface="Arial"/>
              </a:defRPr>
            </a:pPr>
            <a:r>
              <a:t>✔ Hallucination Interceptor</a:t>
            </a:r>
          </a:p>
        </p:txBody>
      </p:sp>
      <p:sp>
        <p:nvSpPr>
          <p:cNvPr id="23" name="Rounded Rectangle 22"/>
          <p:cNvSpPr/>
          <p:nvPr/>
        </p:nvSpPr>
        <p:spPr>
          <a:xfrm>
            <a:off x="8046720" y="4023360"/>
            <a:ext cx="33832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467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0" y="4096512"/>
            <a:ext cx="3017520" cy="365760"/>
          </a:xfrm>
          <a:prstGeom prst="rect">
            <a:avLst/>
          </a:prstGeom>
          <a:noFill/>
        </p:spPr>
        <p:txBody>
          <a:bodyPr wrap="square">
            <a:spAutoFit/>
          </a:bodyPr>
          <a:lstStyle/>
          <a:p>
            <a:pPr>
              <a:defRPr sz="1400" b="1">
                <a:solidFill>
                  <a:srgbClr val="1E293B"/>
                </a:solidFill>
                <a:latin typeface="Arial"/>
              </a:defRPr>
            </a:pPr>
            <a:r>
              <a:t>6. Grounded Generation</a:t>
            </a:r>
          </a:p>
        </p:txBody>
      </p:sp>
      <p:sp>
        <p:nvSpPr>
          <p:cNvPr id="26" name="TextBox 25"/>
          <p:cNvSpPr txBox="1"/>
          <p:nvPr/>
        </p:nvSpPr>
        <p:spPr>
          <a:xfrm>
            <a:off x="8229600" y="4572000"/>
            <a:ext cx="3017520" cy="1554480"/>
          </a:xfrm>
          <a:prstGeom prst="rect">
            <a:avLst/>
          </a:prstGeom>
          <a:noFill/>
        </p:spPr>
        <p:txBody>
          <a:bodyPr wrap="square">
            <a:spAutoFit/>
          </a:bodyPr>
          <a:lstStyle/>
          <a:p>
            <a:pPr>
              <a:spcAft>
                <a:spcPts val="300"/>
              </a:spcAft>
              <a:defRPr sz="1050">
                <a:solidFill>
                  <a:srgbClr val="1E293B"/>
                </a:solidFill>
                <a:latin typeface="Arial"/>
              </a:defRPr>
            </a:pPr>
            <a:r>
              <a:t>✔ Evidence Synthesis</a:t>
            </a:r>
          </a:p>
          <a:p>
            <a:pPr>
              <a:spcAft>
                <a:spcPts val="300"/>
              </a:spcAft>
              <a:defRPr sz="1050">
                <a:solidFill>
                  <a:srgbClr val="1E293B"/>
                </a:solidFill>
                <a:latin typeface="Arial"/>
              </a:defRPr>
            </a:pPr>
            <a:r>
              <a:t>✔ Page Citation Attribution</a:t>
            </a:r>
          </a:p>
          <a:p>
            <a:pPr>
              <a:spcAft>
                <a:spcPts val="300"/>
              </a:spcAft>
              <a:defRPr sz="1050">
                <a:solidFill>
                  <a:srgbClr val="1E293B"/>
                </a:solidFill>
                <a:latin typeface="Arial"/>
              </a:defRPr>
            </a:pPr>
            <a:r>
              <a:t>✔ Streamlit UI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7: IMPLEMENTATION &amp; TOOLS USED</a:t>
            </a:r>
          </a:p>
          <a:p>
            <a:pPr>
              <a:spcAft>
                <a:spcPts val="200"/>
              </a:spcAft>
              <a:defRPr sz="2200" b="1">
                <a:solidFill>
                  <a:srgbClr val="1E293B"/>
                </a:solidFill>
                <a:latin typeface="Arial"/>
              </a:defRPr>
            </a:pPr>
            <a:r>
              <a:t>Engineering Stack &amp; Open-Source NLP Ecosystem</a:t>
            </a:r>
          </a:p>
          <a:p>
            <a:pPr>
              <a:defRPr sz="1200">
                <a:solidFill>
                  <a:srgbClr val="64748B"/>
                </a:solidFill>
                <a:latin typeface="Arial"/>
              </a:defRPr>
            </a:pPr>
            <a:r>
              <a:t>Production-grade, modular Python architecture</a:t>
            </a:r>
          </a:p>
        </p:txBody>
      </p:sp>
      <p:sp>
        <p:nvSpPr>
          <p:cNvPr id="3" name="Rounded Rectangle 2"/>
          <p:cNvSpPr/>
          <p:nvPr/>
        </p:nvSpPr>
        <p:spPr>
          <a:xfrm>
            <a:off x="731520" y="164592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2194560" cy="365760"/>
          </a:xfrm>
          <a:prstGeom prst="rect">
            <a:avLst/>
          </a:prstGeom>
          <a:noFill/>
        </p:spPr>
        <p:txBody>
          <a:bodyPr wrap="square">
            <a:spAutoFit/>
          </a:bodyPr>
          <a:lstStyle/>
          <a:p>
            <a:pPr>
              <a:defRPr sz="1400" b="1">
                <a:solidFill>
                  <a:srgbClr val="1E293B"/>
                </a:solidFill>
                <a:latin typeface="Arial"/>
              </a:defRPr>
            </a:pPr>
            <a:r>
              <a:t>PyTorch &amp; Transformers</a:t>
            </a:r>
          </a:p>
        </p:txBody>
      </p:sp>
      <p:sp>
        <p:nvSpPr>
          <p:cNvPr id="6" name="TextBox 5"/>
          <p:cNvSpPr txBox="1"/>
          <p:nvPr/>
        </p:nvSpPr>
        <p:spPr>
          <a:xfrm>
            <a:off x="868680" y="2148840"/>
            <a:ext cx="2286000" cy="1554480"/>
          </a:xfrm>
          <a:prstGeom prst="rect">
            <a:avLst/>
          </a:prstGeom>
          <a:noFill/>
        </p:spPr>
        <p:txBody>
          <a:bodyPr wrap="square">
            <a:spAutoFit/>
          </a:bodyPr>
          <a:lstStyle/>
          <a:p>
            <a:pPr>
              <a:spcAft>
                <a:spcPts val="400"/>
              </a:spcAft>
              <a:defRPr sz="1000" b="1">
                <a:solidFill>
                  <a:srgbClr val="1D4ED8"/>
                </a:solidFill>
                <a:latin typeface="Arial"/>
              </a:defRPr>
            </a:pPr>
            <a:r>
              <a:t>Hugging Face / PyTorch</a:t>
            </a:r>
          </a:p>
          <a:p>
            <a:pPr>
              <a:defRPr sz="950">
                <a:solidFill>
                  <a:srgbClr val="1E293B"/>
                </a:solidFill>
                <a:latin typeface="Arial"/>
              </a:defRPr>
            </a:pPr>
            <a:r>
              <a:t>Underlying deep learning runtime and transformer tokenizer support.</a:t>
            </a:r>
          </a:p>
        </p:txBody>
      </p:sp>
      <p:sp>
        <p:nvSpPr>
          <p:cNvPr id="7" name="Rounded Rectangle 6"/>
          <p:cNvSpPr/>
          <p:nvPr/>
        </p:nvSpPr>
        <p:spPr>
          <a:xfrm>
            <a:off x="3474720" y="164592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747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1719072"/>
            <a:ext cx="2194560" cy="365760"/>
          </a:xfrm>
          <a:prstGeom prst="rect">
            <a:avLst/>
          </a:prstGeom>
          <a:noFill/>
        </p:spPr>
        <p:txBody>
          <a:bodyPr wrap="square">
            <a:spAutoFit/>
          </a:bodyPr>
          <a:lstStyle/>
          <a:p>
            <a:pPr>
              <a:defRPr sz="1400" b="1">
                <a:solidFill>
                  <a:srgbClr val="1E293B"/>
                </a:solidFill>
                <a:latin typeface="Arial"/>
              </a:defRPr>
            </a:pPr>
            <a:r>
              <a:t>Sentence-Transformers</a:t>
            </a:r>
          </a:p>
        </p:txBody>
      </p:sp>
      <p:sp>
        <p:nvSpPr>
          <p:cNvPr id="10" name="TextBox 9"/>
          <p:cNvSpPr txBox="1"/>
          <p:nvPr/>
        </p:nvSpPr>
        <p:spPr>
          <a:xfrm>
            <a:off x="3611880" y="2148840"/>
            <a:ext cx="2286000" cy="1554480"/>
          </a:xfrm>
          <a:prstGeom prst="rect">
            <a:avLst/>
          </a:prstGeom>
          <a:noFill/>
        </p:spPr>
        <p:txBody>
          <a:bodyPr wrap="square">
            <a:spAutoFit/>
          </a:bodyPr>
          <a:lstStyle/>
          <a:p>
            <a:pPr>
              <a:spcAft>
                <a:spcPts val="400"/>
              </a:spcAft>
              <a:defRPr sz="1000" b="1">
                <a:solidFill>
                  <a:srgbClr val="1D4ED8"/>
                </a:solidFill>
                <a:latin typeface="Arial"/>
              </a:defRPr>
            </a:pPr>
            <a:r>
              <a:t>all-MiniLM-L6-v2</a:t>
            </a:r>
          </a:p>
          <a:p>
            <a:pPr>
              <a:defRPr sz="950">
                <a:solidFill>
                  <a:srgbClr val="1E293B"/>
                </a:solidFill>
                <a:latin typeface="Arial"/>
              </a:defRPr>
            </a:pPr>
            <a:r>
              <a:t>State-of-the-art bi-encoder dense embedding generation (dim=384).</a:t>
            </a:r>
          </a:p>
        </p:txBody>
      </p:sp>
      <p:sp>
        <p:nvSpPr>
          <p:cNvPr id="11" name="Rounded Rectangle 10"/>
          <p:cNvSpPr/>
          <p:nvPr/>
        </p:nvSpPr>
        <p:spPr>
          <a:xfrm>
            <a:off x="6217920" y="164592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19072"/>
            <a:ext cx="2194560" cy="365760"/>
          </a:xfrm>
          <a:prstGeom prst="rect">
            <a:avLst/>
          </a:prstGeom>
          <a:noFill/>
        </p:spPr>
        <p:txBody>
          <a:bodyPr wrap="square">
            <a:spAutoFit/>
          </a:bodyPr>
          <a:lstStyle/>
          <a:p>
            <a:pPr>
              <a:defRPr sz="1400" b="1">
                <a:solidFill>
                  <a:srgbClr val="1E293B"/>
                </a:solidFill>
                <a:latin typeface="Arial"/>
              </a:defRPr>
            </a:pPr>
            <a:r>
              <a:t>Cross-Encoder</a:t>
            </a:r>
          </a:p>
        </p:txBody>
      </p:sp>
      <p:sp>
        <p:nvSpPr>
          <p:cNvPr id="14" name="TextBox 13"/>
          <p:cNvSpPr txBox="1"/>
          <p:nvPr/>
        </p:nvSpPr>
        <p:spPr>
          <a:xfrm>
            <a:off x="6355080" y="2148840"/>
            <a:ext cx="2286000" cy="1554480"/>
          </a:xfrm>
          <a:prstGeom prst="rect">
            <a:avLst/>
          </a:prstGeom>
          <a:noFill/>
        </p:spPr>
        <p:txBody>
          <a:bodyPr wrap="square">
            <a:spAutoFit/>
          </a:bodyPr>
          <a:lstStyle/>
          <a:p>
            <a:pPr>
              <a:spcAft>
                <a:spcPts val="400"/>
              </a:spcAft>
              <a:defRPr sz="1000" b="1">
                <a:solidFill>
                  <a:srgbClr val="1D4ED8"/>
                </a:solidFill>
                <a:latin typeface="Arial"/>
              </a:defRPr>
            </a:pPr>
            <a:r>
              <a:t>ms-marco-MiniLM-L-6-v2</a:t>
            </a:r>
          </a:p>
          <a:p>
            <a:pPr>
              <a:defRPr sz="950">
                <a:solidFill>
                  <a:srgbClr val="1E293B"/>
                </a:solidFill>
                <a:latin typeface="Arial"/>
              </a:defRPr>
            </a:pPr>
            <a:r>
              <a:t>Joint neural reranking computing query-chunk cross-attention scores.</a:t>
            </a:r>
          </a:p>
        </p:txBody>
      </p:sp>
      <p:sp>
        <p:nvSpPr>
          <p:cNvPr id="15" name="Rounded Rectangle 14"/>
          <p:cNvSpPr/>
          <p:nvPr/>
        </p:nvSpPr>
        <p:spPr>
          <a:xfrm>
            <a:off x="8961120" y="164592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611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0" y="1719072"/>
            <a:ext cx="2194560" cy="365760"/>
          </a:xfrm>
          <a:prstGeom prst="rect">
            <a:avLst/>
          </a:prstGeom>
          <a:noFill/>
        </p:spPr>
        <p:txBody>
          <a:bodyPr wrap="square">
            <a:spAutoFit/>
          </a:bodyPr>
          <a:lstStyle/>
          <a:p>
            <a:pPr>
              <a:defRPr sz="1400" b="1">
                <a:solidFill>
                  <a:srgbClr val="1E293B"/>
                </a:solidFill>
                <a:latin typeface="Arial"/>
              </a:defRPr>
            </a:pPr>
            <a:r>
              <a:t>FAISS (Facebook AI)</a:t>
            </a:r>
          </a:p>
        </p:txBody>
      </p:sp>
      <p:sp>
        <p:nvSpPr>
          <p:cNvPr id="18" name="TextBox 17"/>
          <p:cNvSpPr txBox="1"/>
          <p:nvPr/>
        </p:nvSpPr>
        <p:spPr>
          <a:xfrm>
            <a:off x="9098280" y="2148840"/>
            <a:ext cx="2286000" cy="1554480"/>
          </a:xfrm>
          <a:prstGeom prst="rect">
            <a:avLst/>
          </a:prstGeom>
          <a:noFill/>
        </p:spPr>
        <p:txBody>
          <a:bodyPr wrap="square">
            <a:spAutoFit/>
          </a:bodyPr>
          <a:lstStyle/>
          <a:p>
            <a:pPr>
              <a:spcAft>
                <a:spcPts val="400"/>
              </a:spcAft>
              <a:defRPr sz="1000" b="1">
                <a:solidFill>
                  <a:srgbClr val="1D4ED8"/>
                </a:solidFill>
                <a:latin typeface="Arial"/>
              </a:defRPr>
            </a:pPr>
            <a:r>
              <a:t>faiss-cpu (IndexFlatIP)</a:t>
            </a:r>
          </a:p>
          <a:p>
            <a:pPr>
              <a:defRPr sz="950">
                <a:solidFill>
                  <a:srgbClr val="1E293B"/>
                </a:solidFill>
                <a:latin typeface="Arial"/>
              </a:defRPr>
            </a:pPr>
            <a:r>
              <a:t>High-performance vector database executing exact inner-product search.</a:t>
            </a:r>
          </a:p>
        </p:txBody>
      </p:sp>
      <p:sp>
        <p:nvSpPr>
          <p:cNvPr id="19" name="Rounded Rectangle 18"/>
          <p:cNvSpPr/>
          <p:nvPr/>
        </p:nvSpPr>
        <p:spPr>
          <a:xfrm>
            <a:off x="731520" y="402336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096512"/>
            <a:ext cx="2194560" cy="365760"/>
          </a:xfrm>
          <a:prstGeom prst="rect">
            <a:avLst/>
          </a:prstGeom>
          <a:noFill/>
        </p:spPr>
        <p:txBody>
          <a:bodyPr wrap="square">
            <a:spAutoFit/>
          </a:bodyPr>
          <a:lstStyle/>
          <a:p>
            <a:pPr>
              <a:defRPr sz="1400" b="1">
                <a:solidFill>
                  <a:srgbClr val="1E293B"/>
                </a:solidFill>
                <a:latin typeface="Arial"/>
              </a:defRPr>
            </a:pPr>
            <a:r>
              <a:t>Rank-BM25</a:t>
            </a:r>
          </a:p>
        </p:txBody>
      </p:sp>
      <p:sp>
        <p:nvSpPr>
          <p:cNvPr id="22" name="TextBox 21"/>
          <p:cNvSpPr txBox="1"/>
          <p:nvPr/>
        </p:nvSpPr>
        <p:spPr>
          <a:xfrm>
            <a:off x="868680" y="4526280"/>
            <a:ext cx="2286000" cy="1554480"/>
          </a:xfrm>
          <a:prstGeom prst="rect">
            <a:avLst/>
          </a:prstGeom>
          <a:noFill/>
        </p:spPr>
        <p:txBody>
          <a:bodyPr wrap="square">
            <a:spAutoFit/>
          </a:bodyPr>
          <a:lstStyle/>
          <a:p>
            <a:pPr>
              <a:spcAft>
                <a:spcPts val="400"/>
              </a:spcAft>
              <a:defRPr sz="1000" b="1">
                <a:solidFill>
                  <a:srgbClr val="1D4ED8"/>
                </a:solidFill>
                <a:latin typeface="Arial"/>
              </a:defRPr>
            </a:pPr>
            <a:r>
              <a:t>BM25Okapi Algorithm</a:t>
            </a:r>
          </a:p>
          <a:p>
            <a:pPr>
              <a:defRPr sz="950">
                <a:solidFill>
                  <a:srgbClr val="1E293B"/>
                </a:solidFill>
                <a:latin typeface="Arial"/>
              </a:defRPr>
            </a:pPr>
            <a:r>
              <a:t>Sparse probabilistic lexical retrieval for exact domain policy codes.</a:t>
            </a:r>
          </a:p>
        </p:txBody>
      </p:sp>
      <p:sp>
        <p:nvSpPr>
          <p:cNvPr id="23" name="Rounded Rectangle 22"/>
          <p:cNvSpPr/>
          <p:nvPr/>
        </p:nvSpPr>
        <p:spPr>
          <a:xfrm>
            <a:off x="3474720" y="402336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747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0" y="4096512"/>
            <a:ext cx="2194560" cy="365760"/>
          </a:xfrm>
          <a:prstGeom prst="rect">
            <a:avLst/>
          </a:prstGeom>
          <a:noFill/>
        </p:spPr>
        <p:txBody>
          <a:bodyPr wrap="square">
            <a:spAutoFit/>
          </a:bodyPr>
          <a:lstStyle/>
          <a:p>
            <a:pPr>
              <a:defRPr sz="1400" b="1">
                <a:solidFill>
                  <a:srgbClr val="1E293B"/>
                </a:solidFill>
                <a:latin typeface="Arial"/>
              </a:defRPr>
            </a:pPr>
            <a:r>
              <a:t>pypdfium2 &amp; ReportLab</a:t>
            </a:r>
          </a:p>
        </p:txBody>
      </p:sp>
      <p:sp>
        <p:nvSpPr>
          <p:cNvPr id="26" name="TextBox 25"/>
          <p:cNvSpPr txBox="1"/>
          <p:nvPr/>
        </p:nvSpPr>
        <p:spPr>
          <a:xfrm>
            <a:off x="3611880" y="4526280"/>
            <a:ext cx="2286000" cy="1554480"/>
          </a:xfrm>
          <a:prstGeom prst="rect">
            <a:avLst/>
          </a:prstGeom>
          <a:noFill/>
        </p:spPr>
        <p:txBody>
          <a:bodyPr wrap="square">
            <a:spAutoFit/>
          </a:bodyPr>
          <a:lstStyle/>
          <a:p>
            <a:pPr>
              <a:spcAft>
                <a:spcPts val="400"/>
              </a:spcAft>
              <a:defRPr sz="1000" b="1">
                <a:solidFill>
                  <a:srgbClr val="1D4ED8"/>
                </a:solidFill>
                <a:latin typeface="Arial"/>
              </a:defRPr>
            </a:pPr>
            <a:r>
              <a:t>PDF Ingestion &amp; Generation</a:t>
            </a:r>
          </a:p>
          <a:p>
            <a:pPr>
              <a:defRPr sz="950">
                <a:solidFill>
                  <a:srgbClr val="1E293B"/>
                </a:solidFill>
                <a:latin typeface="Arial"/>
              </a:defRPr>
            </a:pPr>
            <a:r>
              <a:t>Page-level PDF text extraction and multi-page document synthesis.</a:t>
            </a:r>
          </a:p>
        </p:txBody>
      </p:sp>
      <p:sp>
        <p:nvSpPr>
          <p:cNvPr id="27" name="Rounded Rectangle 26"/>
          <p:cNvSpPr/>
          <p:nvPr/>
        </p:nvSpPr>
        <p:spPr>
          <a:xfrm>
            <a:off x="6217920" y="402336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4096512"/>
            <a:ext cx="2194560" cy="365760"/>
          </a:xfrm>
          <a:prstGeom prst="rect">
            <a:avLst/>
          </a:prstGeom>
          <a:noFill/>
        </p:spPr>
        <p:txBody>
          <a:bodyPr wrap="square">
            <a:spAutoFit/>
          </a:bodyPr>
          <a:lstStyle/>
          <a:p>
            <a:pPr>
              <a:defRPr sz="1400" b="1">
                <a:solidFill>
                  <a:srgbClr val="1E293B"/>
                </a:solidFill>
                <a:latin typeface="Arial"/>
              </a:defRPr>
            </a:pPr>
            <a:r>
              <a:t>Streamlit</a:t>
            </a:r>
          </a:p>
        </p:txBody>
      </p:sp>
      <p:sp>
        <p:nvSpPr>
          <p:cNvPr id="30" name="TextBox 29"/>
          <p:cNvSpPr txBox="1"/>
          <p:nvPr/>
        </p:nvSpPr>
        <p:spPr>
          <a:xfrm>
            <a:off x="6355080" y="4526280"/>
            <a:ext cx="2286000" cy="1554480"/>
          </a:xfrm>
          <a:prstGeom prst="rect">
            <a:avLst/>
          </a:prstGeom>
          <a:noFill/>
        </p:spPr>
        <p:txBody>
          <a:bodyPr wrap="square">
            <a:spAutoFit/>
          </a:bodyPr>
          <a:lstStyle/>
          <a:p>
            <a:pPr>
              <a:spcAft>
                <a:spcPts val="400"/>
              </a:spcAft>
              <a:defRPr sz="1000" b="1">
                <a:solidFill>
                  <a:srgbClr val="1D4ED8"/>
                </a:solidFill>
                <a:latin typeface="Arial"/>
              </a:defRPr>
            </a:pPr>
            <a:r>
              <a:t>Web GUI Application</a:t>
            </a:r>
          </a:p>
          <a:p>
            <a:pPr>
              <a:defRPr sz="950">
                <a:solidFill>
                  <a:srgbClr val="1E293B"/>
                </a:solidFill>
                <a:latin typeface="Arial"/>
              </a:defRPr>
            </a:pPr>
            <a:r>
              <a:t>Modern interactive user interface with real-time telemetry and inspectors.</a:t>
            </a:r>
          </a:p>
        </p:txBody>
      </p:sp>
      <p:sp>
        <p:nvSpPr>
          <p:cNvPr id="31" name="Rounded Rectangle 30"/>
          <p:cNvSpPr/>
          <p:nvPr/>
        </p:nvSpPr>
        <p:spPr>
          <a:xfrm>
            <a:off x="8961120" y="4023360"/>
            <a:ext cx="256032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9611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0" y="4096512"/>
            <a:ext cx="2194560" cy="365760"/>
          </a:xfrm>
          <a:prstGeom prst="rect">
            <a:avLst/>
          </a:prstGeom>
          <a:noFill/>
        </p:spPr>
        <p:txBody>
          <a:bodyPr wrap="square">
            <a:spAutoFit/>
          </a:bodyPr>
          <a:lstStyle/>
          <a:p>
            <a:pPr>
              <a:defRPr sz="1400" b="1">
                <a:solidFill>
                  <a:srgbClr val="1E293B"/>
                </a:solidFill>
                <a:latin typeface="Arial"/>
              </a:defRPr>
            </a:pPr>
            <a:r>
              <a:t>PyTest</a:t>
            </a:r>
          </a:p>
        </p:txBody>
      </p:sp>
      <p:sp>
        <p:nvSpPr>
          <p:cNvPr id="34" name="TextBox 33"/>
          <p:cNvSpPr txBox="1"/>
          <p:nvPr/>
        </p:nvSpPr>
        <p:spPr>
          <a:xfrm>
            <a:off x="9098280" y="4526280"/>
            <a:ext cx="2286000" cy="1554480"/>
          </a:xfrm>
          <a:prstGeom prst="rect">
            <a:avLst/>
          </a:prstGeom>
          <a:noFill/>
        </p:spPr>
        <p:txBody>
          <a:bodyPr wrap="square">
            <a:spAutoFit/>
          </a:bodyPr>
          <a:lstStyle/>
          <a:p>
            <a:pPr>
              <a:spcAft>
                <a:spcPts val="400"/>
              </a:spcAft>
              <a:defRPr sz="1000" b="1">
                <a:solidFill>
                  <a:srgbClr val="1D4ED8"/>
                </a:solidFill>
                <a:latin typeface="Arial"/>
              </a:defRPr>
            </a:pPr>
            <a:r>
              <a:t>Test Automation Suite</a:t>
            </a:r>
          </a:p>
          <a:p>
            <a:pPr>
              <a:defRPr sz="950">
                <a:solidFill>
                  <a:srgbClr val="1E293B"/>
                </a:solidFill>
                <a:latin typeface="Arial"/>
              </a:defRPr>
            </a:pPr>
            <a:r>
              <a:t>Comprehensive unit and integration testing validating all pipeline stages.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7: IMPLEMENTATION &amp; TOOLS USED</a:t>
            </a:r>
          </a:p>
          <a:p>
            <a:pPr>
              <a:spcAft>
                <a:spcPts val="200"/>
              </a:spcAft>
              <a:defRPr sz="2200" b="1">
                <a:solidFill>
                  <a:srgbClr val="1E293B"/>
                </a:solidFill>
                <a:latin typeface="Arial"/>
              </a:defRPr>
            </a:pPr>
            <a:r>
              <a:t>Interactive Demonstration &amp; User Interface</a:t>
            </a:r>
          </a:p>
          <a:p>
            <a:pPr>
              <a:defRPr sz="1200">
                <a:solidFill>
                  <a:srgbClr val="64748B"/>
                </a:solidFill>
                <a:latin typeface="Arial"/>
              </a:defRPr>
            </a:pPr>
            <a:r>
              <a:t>Streamlit dashboard offering end-to-end transparency and corpus control</a:t>
            </a:r>
          </a:p>
        </p:txBody>
      </p:sp>
      <p:sp>
        <p:nvSpPr>
          <p:cNvPr id="3" name="Rounded Rectangle 2"/>
          <p:cNvSpPr/>
          <p:nvPr/>
        </p:nvSpPr>
        <p:spPr>
          <a:xfrm>
            <a:off x="7315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1. Real-Time Query Playground</a:t>
            </a:r>
          </a:p>
        </p:txBody>
      </p:sp>
      <p:sp>
        <p:nvSpPr>
          <p:cNvPr id="6" name="TextBox 5"/>
          <p:cNvSpPr txBox="1"/>
          <p:nvPr/>
        </p:nvSpPr>
        <p:spPr>
          <a:xfrm>
            <a:off x="914400" y="2148840"/>
            <a:ext cx="4846320" cy="1554480"/>
          </a:xfrm>
          <a:prstGeom prst="rect">
            <a:avLst/>
          </a:prstGeom>
          <a:noFill/>
        </p:spPr>
        <p:txBody>
          <a:bodyPr wrap="square">
            <a:spAutoFit/>
          </a:bodyPr>
          <a:lstStyle/>
          <a:p>
            <a:pPr>
              <a:spcAft>
                <a:spcPts val="400"/>
              </a:spcAft>
              <a:defRPr sz="1050" b="1">
                <a:solidFill>
                  <a:srgbClr val="1D4ED8"/>
                </a:solidFill>
                <a:latin typeface="Arial"/>
              </a:defRPr>
            </a:pPr>
            <a:r>
              <a:t>Natural Language Q&amp;A</a:t>
            </a:r>
          </a:p>
          <a:p>
            <a:pPr>
              <a:spcAft>
                <a:spcPts val="200"/>
              </a:spcAft>
              <a:defRPr sz="1000">
                <a:solidFill>
                  <a:srgbClr val="1E293B"/>
                </a:solidFill>
                <a:latin typeface="Arial"/>
              </a:defRPr>
            </a:pPr>
            <a:r>
              <a:t>• Quick-test buttons for instant 1-click in-domain and OOD queries.</a:t>
            </a:r>
          </a:p>
          <a:p>
            <a:pPr>
              <a:spcAft>
                <a:spcPts val="200"/>
              </a:spcAft>
              <a:defRPr sz="1000">
                <a:solidFill>
                  <a:srgbClr val="1E293B"/>
                </a:solidFill>
                <a:latin typeface="Arial"/>
              </a:defRPr>
            </a:pPr>
            <a:r>
              <a:t>• Retrieval strategy selector (Dense, BM25, or Hybrid RRF).</a:t>
            </a:r>
          </a:p>
          <a:p>
            <a:pPr>
              <a:spcAft>
                <a:spcPts val="200"/>
              </a:spcAft>
              <a:defRPr sz="1000">
                <a:solidFill>
                  <a:srgbClr val="1E293B"/>
                </a:solidFill>
                <a:latin typeface="Arial"/>
              </a:defRPr>
            </a:pPr>
            <a:r>
              <a:t>• Cross-Encoder toggle and refusal threshold slider.</a:t>
            </a:r>
          </a:p>
        </p:txBody>
      </p:sp>
      <p:sp>
        <p:nvSpPr>
          <p:cNvPr id="7" name="Rounded Rectangle 6"/>
          <p:cNvSpPr/>
          <p:nvPr/>
        </p:nvSpPr>
        <p:spPr>
          <a:xfrm>
            <a:off x="62179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2. Grounded Output &amp; Citations</a:t>
            </a:r>
          </a:p>
        </p:txBody>
      </p:sp>
      <p:sp>
        <p:nvSpPr>
          <p:cNvPr id="10" name="TextBox 9"/>
          <p:cNvSpPr txBox="1"/>
          <p:nvPr/>
        </p:nvSpPr>
        <p:spPr>
          <a:xfrm>
            <a:off x="6400800" y="2148840"/>
            <a:ext cx="4846320" cy="1554480"/>
          </a:xfrm>
          <a:prstGeom prst="rect">
            <a:avLst/>
          </a:prstGeom>
          <a:noFill/>
        </p:spPr>
        <p:txBody>
          <a:bodyPr wrap="square">
            <a:spAutoFit/>
          </a:bodyPr>
          <a:lstStyle/>
          <a:p>
            <a:pPr>
              <a:spcAft>
                <a:spcPts val="400"/>
              </a:spcAft>
              <a:defRPr sz="1050" b="1">
                <a:solidFill>
                  <a:srgbClr val="1D4ED8"/>
                </a:solidFill>
                <a:latin typeface="Arial"/>
              </a:defRPr>
            </a:pPr>
            <a:r>
              <a:t>Explainable Answers</a:t>
            </a:r>
          </a:p>
          <a:p>
            <a:pPr>
              <a:spcAft>
                <a:spcPts val="200"/>
              </a:spcAft>
              <a:defRPr sz="1000">
                <a:solidFill>
                  <a:srgbClr val="1E293B"/>
                </a:solidFill>
                <a:latin typeface="Arial"/>
              </a:defRPr>
            </a:pPr>
            <a:r>
              <a:t>• Displays grounded answer synthesized strictly from retrieved text.</a:t>
            </a:r>
          </a:p>
          <a:p>
            <a:pPr>
              <a:spcAft>
                <a:spcPts val="200"/>
              </a:spcAft>
              <a:defRPr sz="1000">
                <a:solidFill>
                  <a:srgbClr val="1E293B"/>
                </a:solidFill>
                <a:latin typeface="Arial"/>
              </a:defRPr>
            </a:pPr>
            <a:r>
              <a:t>• Prominent citation badges: [Doc: X | Page: Y | Confidence: Z].</a:t>
            </a:r>
          </a:p>
          <a:p>
            <a:pPr>
              <a:spcAft>
                <a:spcPts val="200"/>
              </a:spcAft>
              <a:defRPr sz="1000">
                <a:solidFill>
                  <a:srgbClr val="1E293B"/>
                </a:solidFill>
                <a:latin typeface="Arial"/>
              </a:defRPr>
            </a:pPr>
            <a:r>
              <a:t>• Color-coded warning banner for out-of-domain query refusals.</a:t>
            </a:r>
          </a:p>
        </p:txBody>
      </p:sp>
      <p:sp>
        <p:nvSpPr>
          <p:cNvPr id="11" name="Rounded Rectangle 10"/>
          <p:cNvSpPr/>
          <p:nvPr/>
        </p:nvSpPr>
        <p:spPr>
          <a:xfrm>
            <a:off x="731520" y="402336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96512"/>
            <a:ext cx="4846320" cy="365760"/>
          </a:xfrm>
          <a:prstGeom prst="rect">
            <a:avLst/>
          </a:prstGeom>
          <a:noFill/>
        </p:spPr>
        <p:txBody>
          <a:bodyPr wrap="square">
            <a:spAutoFit/>
          </a:bodyPr>
          <a:lstStyle/>
          <a:p>
            <a:pPr>
              <a:defRPr sz="1400" b="1">
                <a:solidFill>
                  <a:srgbClr val="1E293B"/>
                </a:solidFill>
                <a:latin typeface="Arial"/>
              </a:defRPr>
            </a:pPr>
            <a:r>
              <a:t>3. Retrieved Passage Inspector</a:t>
            </a:r>
          </a:p>
        </p:txBody>
      </p:sp>
      <p:sp>
        <p:nvSpPr>
          <p:cNvPr id="14" name="TextBox 13"/>
          <p:cNvSpPr txBox="1"/>
          <p:nvPr/>
        </p:nvSpPr>
        <p:spPr>
          <a:xfrm>
            <a:off x="914400" y="4526280"/>
            <a:ext cx="4846320" cy="1554480"/>
          </a:xfrm>
          <a:prstGeom prst="rect">
            <a:avLst/>
          </a:prstGeom>
          <a:noFill/>
        </p:spPr>
        <p:txBody>
          <a:bodyPr wrap="square">
            <a:spAutoFit/>
          </a:bodyPr>
          <a:lstStyle/>
          <a:p>
            <a:pPr>
              <a:spcAft>
                <a:spcPts val="400"/>
              </a:spcAft>
              <a:defRPr sz="1050" b="1">
                <a:solidFill>
                  <a:srgbClr val="1D4ED8"/>
                </a:solidFill>
                <a:latin typeface="Arial"/>
              </a:defRPr>
            </a:pPr>
            <a:r>
              <a:t>Full Auditability</a:t>
            </a:r>
          </a:p>
          <a:p>
            <a:pPr>
              <a:spcAft>
                <a:spcPts val="200"/>
              </a:spcAft>
              <a:defRPr sz="1000">
                <a:solidFill>
                  <a:srgbClr val="1E293B"/>
                </a:solidFill>
                <a:latin typeface="Arial"/>
              </a:defRPr>
            </a:pPr>
            <a:r>
              <a:t>• Collapsible accordion per passage displaying rank, score, and source.</a:t>
            </a:r>
          </a:p>
          <a:p>
            <a:pPr>
              <a:spcAft>
                <a:spcPts val="200"/>
              </a:spcAft>
              <a:defRPr sz="1000">
                <a:solidFill>
                  <a:srgbClr val="1E293B"/>
                </a:solidFill>
                <a:latin typeface="Arial"/>
              </a:defRPr>
            </a:pPr>
            <a:r>
              <a:t>• Displays raw text chunks to verify absence of hallucinations.</a:t>
            </a:r>
          </a:p>
          <a:p>
            <a:pPr>
              <a:spcAft>
                <a:spcPts val="200"/>
              </a:spcAft>
              <a:defRPr sz="1000">
                <a:solidFill>
                  <a:srgbClr val="1E293B"/>
                </a:solidFill>
                <a:latin typeface="Arial"/>
              </a:defRPr>
            </a:pPr>
            <a:r>
              <a:t>• Live latency telemetry (Retrieval ms, Rerank ms, Total ms).</a:t>
            </a:r>
          </a:p>
        </p:txBody>
      </p:sp>
      <p:sp>
        <p:nvSpPr>
          <p:cNvPr id="15" name="Rounded Rectangle 14"/>
          <p:cNvSpPr/>
          <p:nvPr/>
        </p:nvSpPr>
        <p:spPr>
          <a:xfrm>
            <a:off x="6217920" y="402336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11480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96512"/>
            <a:ext cx="4846320" cy="365760"/>
          </a:xfrm>
          <a:prstGeom prst="rect">
            <a:avLst/>
          </a:prstGeom>
          <a:noFill/>
        </p:spPr>
        <p:txBody>
          <a:bodyPr wrap="square">
            <a:spAutoFit/>
          </a:bodyPr>
          <a:lstStyle/>
          <a:p>
            <a:pPr>
              <a:defRPr sz="1400" b="1">
                <a:solidFill>
                  <a:srgbClr val="1E293B"/>
                </a:solidFill>
                <a:latin typeface="Arial"/>
              </a:defRPr>
            </a:pPr>
            <a:r>
              <a:t>4. Corpus &amp; Evaluation Tabs</a:t>
            </a:r>
          </a:p>
        </p:txBody>
      </p:sp>
      <p:sp>
        <p:nvSpPr>
          <p:cNvPr id="18" name="TextBox 17"/>
          <p:cNvSpPr txBox="1"/>
          <p:nvPr/>
        </p:nvSpPr>
        <p:spPr>
          <a:xfrm>
            <a:off x="6400800" y="4526280"/>
            <a:ext cx="4846320" cy="1554480"/>
          </a:xfrm>
          <a:prstGeom prst="rect">
            <a:avLst/>
          </a:prstGeom>
          <a:noFill/>
        </p:spPr>
        <p:txBody>
          <a:bodyPr wrap="square">
            <a:spAutoFit/>
          </a:bodyPr>
          <a:lstStyle/>
          <a:p>
            <a:pPr>
              <a:spcAft>
                <a:spcPts val="400"/>
              </a:spcAft>
              <a:defRPr sz="1050" b="1">
                <a:solidFill>
                  <a:srgbClr val="1D4ED8"/>
                </a:solidFill>
                <a:latin typeface="Arial"/>
              </a:defRPr>
            </a:pPr>
            <a:r>
              <a:t>Analytics &amp; Benchmarks</a:t>
            </a:r>
          </a:p>
          <a:p>
            <a:pPr>
              <a:spcAft>
                <a:spcPts val="200"/>
              </a:spcAft>
              <a:defRPr sz="1000">
                <a:solidFill>
                  <a:srgbClr val="1E293B"/>
                </a:solidFill>
                <a:latin typeface="Arial"/>
              </a:defRPr>
            </a:pPr>
            <a:r>
              <a:t>• Corpus browser inspecting chunks page-by-page across all documents.</a:t>
            </a:r>
          </a:p>
          <a:p>
            <a:pPr>
              <a:spcAft>
                <a:spcPts val="200"/>
              </a:spcAft>
              <a:defRPr sz="1000">
                <a:solidFill>
                  <a:srgbClr val="1E293B"/>
                </a:solidFill>
                <a:latin typeface="Arial"/>
              </a:defRPr>
            </a:pPr>
            <a:r>
              <a:t>• Document upload button allowing users to index their own PDFs.</a:t>
            </a:r>
          </a:p>
          <a:p>
            <a:pPr>
              <a:spcAft>
                <a:spcPts val="200"/>
              </a:spcAft>
              <a:defRPr sz="1000">
                <a:solidFill>
                  <a:srgbClr val="1E293B"/>
                </a:solidFill>
                <a:latin typeface="Arial"/>
              </a:defRPr>
            </a:pPr>
            <a:r>
              <a:t>• Live benchmark runner with comparative charts.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8: RESULTS, EVALUATION, AND SCREENSHOTS</a:t>
            </a:r>
          </a:p>
          <a:p>
            <a:pPr>
              <a:spcAft>
                <a:spcPts val="200"/>
              </a:spcAft>
              <a:defRPr sz="2200" b="1">
                <a:solidFill>
                  <a:srgbClr val="1E293B"/>
                </a:solidFill>
                <a:latin typeface="Arial"/>
              </a:defRPr>
            </a:pPr>
            <a:r>
              <a:t>Quantitative Benchmark Results &amp; Ablation Study</a:t>
            </a:r>
          </a:p>
          <a:p>
            <a:pPr>
              <a:defRPr sz="1200">
                <a:solidFill>
                  <a:srgbClr val="64748B"/>
                </a:solidFill>
                <a:latin typeface="Arial"/>
              </a:defRPr>
            </a:pPr>
            <a:r>
              <a:t>Evaluation across 15 benchmark questions spanning 4 pipeline configurations</a:t>
            </a:r>
          </a:p>
        </p:txBody>
      </p:sp>
      <p:graphicFrame>
        <p:nvGraphicFramePr>
          <p:cNvPr id="3" name="Table 2"/>
          <p:cNvGraphicFramePr>
            <a:graphicFrameLocks noGrp="1"/>
          </p:cNvGraphicFramePr>
          <p:nvPr/>
        </p:nvGraphicFramePr>
        <p:xfrm>
          <a:off x="731520" y="1645920"/>
          <a:ext cx="10728655" cy="2377440"/>
        </p:xfrm>
        <a:graphic>
          <a:graphicData uri="http://schemas.openxmlformats.org/drawingml/2006/table">
            <a:tbl>
              <a:tblPr firstRow="1" bandRow="1">
                <a:tableStyleId>{5C22544A-7EE6-4342-B048-85BDC9FD1C3A}</a:tableStyleId>
              </a:tblPr>
              <a:tblGrid>
                <a:gridCol w="1532665"/>
                <a:gridCol w="1532665"/>
                <a:gridCol w="1532665"/>
                <a:gridCol w="1532665"/>
                <a:gridCol w="1532665"/>
                <a:gridCol w="1532665"/>
                <a:gridCol w="1532665"/>
              </a:tblGrid>
              <a:tr h="475488">
                <a:tc>
                  <a:txBody>
                    <a:bodyPr/>
                    <a:lstStyle/>
                    <a:p>
                      <a:pPr algn="l">
                        <a:defRPr sz="1050" b="1">
                          <a:solidFill>
                            <a:srgbClr val="FFFFFF"/>
                          </a:solidFill>
                          <a:latin typeface="Arial"/>
                        </a:defRPr>
                      </a:pPr>
                      <a:r>
                        <a:t>Configuration Pipeline</a:t>
                      </a:r>
                    </a:p>
                  </a:txBody>
                  <a:tcPr anchor="ctr">
                    <a:solidFill>
                      <a:srgbClr val="1D4ED8"/>
                    </a:solidFill>
                  </a:tcPr>
                </a:tc>
                <a:tc>
                  <a:txBody>
                    <a:bodyPr/>
                    <a:lstStyle/>
                    <a:p>
                      <a:pPr algn="ctr">
                        <a:defRPr sz="1050" b="1">
                          <a:solidFill>
                            <a:srgbClr val="FFFFFF"/>
                          </a:solidFill>
                          <a:latin typeface="Arial"/>
                        </a:defRPr>
                      </a:pPr>
                      <a:r>
                        <a:t>Hit@1</a:t>
                      </a:r>
                    </a:p>
                  </a:txBody>
                  <a:tcPr anchor="ctr">
                    <a:solidFill>
                      <a:srgbClr val="1D4ED8"/>
                    </a:solidFill>
                  </a:tcPr>
                </a:tc>
                <a:tc>
                  <a:txBody>
                    <a:bodyPr/>
                    <a:lstStyle/>
                    <a:p>
                      <a:pPr algn="ctr">
                        <a:defRPr sz="1050" b="1">
                          <a:solidFill>
                            <a:srgbClr val="FFFFFF"/>
                          </a:solidFill>
                          <a:latin typeface="Arial"/>
                        </a:defRPr>
                      </a:pPr>
                      <a:r>
                        <a:t>Hit@3</a:t>
                      </a:r>
                    </a:p>
                  </a:txBody>
                  <a:tcPr anchor="ctr">
                    <a:solidFill>
                      <a:srgbClr val="1D4ED8"/>
                    </a:solidFill>
                  </a:tcPr>
                </a:tc>
                <a:tc>
                  <a:txBody>
                    <a:bodyPr/>
                    <a:lstStyle/>
                    <a:p>
                      <a:pPr algn="ctr">
                        <a:defRPr sz="1050" b="1">
                          <a:solidFill>
                            <a:srgbClr val="FFFFFF"/>
                          </a:solidFill>
                          <a:latin typeface="Arial"/>
                        </a:defRPr>
                      </a:pPr>
                      <a:r>
                        <a:t>MRR</a:t>
                      </a:r>
                    </a:p>
                  </a:txBody>
                  <a:tcPr anchor="ctr">
                    <a:solidFill>
                      <a:srgbClr val="1D4ED8"/>
                    </a:solidFill>
                  </a:tcPr>
                </a:tc>
                <a:tc>
                  <a:txBody>
                    <a:bodyPr/>
                    <a:lstStyle/>
                    <a:p>
                      <a:pPr algn="ctr">
                        <a:defRPr sz="1050" b="1">
                          <a:solidFill>
                            <a:srgbClr val="FFFFFF"/>
                          </a:solidFill>
                          <a:latin typeface="Arial"/>
                        </a:defRPr>
                      </a:pPr>
                      <a:r>
                        <a:t>Refusal Acc</a:t>
                      </a:r>
                    </a:p>
                  </a:txBody>
                  <a:tcPr anchor="ctr">
                    <a:solidFill>
                      <a:srgbClr val="1D4ED8"/>
                    </a:solidFill>
                  </a:tcPr>
                </a:tc>
                <a:tc>
                  <a:txBody>
                    <a:bodyPr/>
                    <a:lstStyle/>
                    <a:p>
                      <a:pPr algn="ctr">
                        <a:defRPr sz="1050" b="1">
                          <a:solidFill>
                            <a:srgbClr val="FFFFFF"/>
                          </a:solidFill>
                          <a:latin typeface="Arial"/>
                        </a:defRPr>
                      </a:pPr>
                      <a:r>
                        <a:t>Groundedness</a:t>
                      </a:r>
                    </a:p>
                  </a:txBody>
                  <a:tcPr anchor="ctr">
                    <a:solidFill>
                      <a:srgbClr val="1D4ED8"/>
                    </a:solidFill>
                  </a:tcPr>
                </a:tc>
                <a:tc>
                  <a:txBody>
                    <a:bodyPr/>
                    <a:lstStyle/>
                    <a:p>
                      <a:pPr algn="ctr">
                        <a:defRPr sz="1050" b="1">
                          <a:solidFill>
                            <a:srgbClr val="FFFFFF"/>
                          </a:solidFill>
                          <a:latin typeface="Arial"/>
                        </a:defRPr>
                      </a:pPr>
                      <a:r>
                        <a:t>Avg Latency</a:t>
                      </a:r>
                    </a:p>
                  </a:txBody>
                  <a:tcPr anchor="ctr">
                    <a:solidFill>
                      <a:srgbClr val="1D4ED8"/>
                    </a:solidFill>
                  </a:tcPr>
                </a:tc>
              </a:tr>
              <a:tr h="475488">
                <a:tc>
                  <a:txBody>
                    <a:bodyPr/>
                    <a:lstStyle/>
                    <a:p>
                      <a:pPr algn="l">
                        <a:defRPr sz="1000" b="0">
                          <a:latin typeface="Arial"/>
                        </a:defRPr>
                      </a:pPr>
                      <a:r>
                        <a:t>Dense Semantic Only (Bi-Encoder)</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93.3%</a:t>
                      </a:r>
                    </a:p>
                  </a:txBody>
                  <a:tcPr anchor="ctr"/>
                </a:tc>
                <a:tc>
                  <a:txBody>
                    <a:bodyPr/>
                    <a:lstStyle/>
                    <a:p>
                      <a:pPr algn="ctr">
                        <a:defRPr sz="1000" b="0">
                          <a:latin typeface="Arial"/>
                        </a:defRPr>
                      </a:pPr>
                      <a:r>
                        <a:t>89.8%</a:t>
                      </a:r>
                    </a:p>
                  </a:txBody>
                  <a:tcPr anchor="ctr"/>
                </a:tc>
                <a:tc>
                  <a:txBody>
                    <a:bodyPr/>
                    <a:lstStyle/>
                    <a:p>
                      <a:pPr algn="ctr">
                        <a:defRPr sz="1000" b="0">
                          <a:latin typeface="Arial"/>
                        </a:defRPr>
                      </a:pPr>
                      <a:r>
                        <a:t>25.4 ms</a:t>
                      </a:r>
                    </a:p>
                  </a:txBody>
                  <a:tcPr anchor="ctr"/>
                </a:tc>
              </a:tr>
              <a:tr h="475488">
                <a:tc>
                  <a:txBody>
                    <a:bodyPr/>
                    <a:lstStyle/>
                    <a:p>
                      <a:pPr algn="l">
                        <a:defRPr sz="1000" b="0">
                          <a:latin typeface="Arial"/>
                        </a:defRPr>
                      </a:pPr>
                      <a:r>
                        <a:t>Sparse Lexical Only (BM25)</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73.3%</a:t>
                      </a:r>
                    </a:p>
                  </a:txBody>
                  <a:tcPr anchor="ctr"/>
                </a:tc>
                <a:tc>
                  <a:txBody>
                    <a:bodyPr/>
                    <a:lstStyle/>
                    <a:p>
                      <a:pPr algn="ctr">
                        <a:defRPr sz="1000" b="0">
                          <a:latin typeface="Arial"/>
                        </a:defRPr>
                      </a:pPr>
                      <a:r>
                        <a:t>85.3%</a:t>
                      </a:r>
                    </a:p>
                  </a:txBody>
                  <a:tcPr anchor="ctr"/>
                </a:tc>
                <a:tc>
                  <a:txBody>
                    <a:bodyPr/>
                    <a:lstStyle/>
                    <a:p>
                      <a:pPr algn="ctr">
                        <a:defRPr sz="1000" b="0">
                          <a:latin typeface="Arial"/>
                        </a:defRPr>
                      </a:pPr>
                      <a:r>
                        <a:t>0.3 ms</a:t>
                      </a:r>
                    </a:p>
                  </a:txBody>
                  <a:tcPr anchor="ctr"/>
                </a:tc>
              </a:tr>
              <a:tr h="475488">
                <a:tc>
                  <a:txBody>
                    <a:bodyPr/>
                    <a:lstStyle/>
                    <a:p>
                      <a:pPr algn="l">
                        <a:defRPr sz="1000" b="0">
                          <a:latin typeface="Arial"/>
                        </a:defRPr>
                      </a:pPr>
                      <a:r>
                        <a:t>Hybrid Search (Dense + BM25 RRF)</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1.000</a:t>
                      </a:r>
                    </a:p>
                  </a:txBody>
                  <a:tcPr anchor="ctr"/>
                </a:tc>
                <a:tc>
                  <a:txBody>
                    <a:bodyPr/>
                    <a:lstStyle/>
                    <a:p>
                      <a:pPr algn="ctr">
                        <a:defRPr sz="1000" b="0">
                          <a:latin typeface="Arial"/>
                        </a:defRPr>
                      </a:pPr>
                      <a:r>
                        <a:t>73.3%</a:t>
                      </a:r>
                    </a:p>
                  </a:txBody>
                  <a:tcPr anchor="ctr"/>
                </a:tc>
                <a:tc>
                  <a:txBody>
                    <a:bodyPr/>
                    <a:lstStyle/>
                    <a:p>
                      <a:pPr algn="ctr">
                        <a:defRPr sz="1000" b="0">
                          <a:latin typeface="Arial"/>
                        </a:defRPr>
                      </a:pPr>
                      <a:r>
                        <a:t>63.0%</a:t>
                      </a:r>
                    </a:p>
                  </a:txBody>
                  <a:tcPr anchor="ctr"/>
                </a:tc>
                <a:tc>
                  <a:txBody>
                    <a:bodyPr/>
                    <a:lstStyle/>
                    <a:p>
                      <a:pPr algn="ctr">
                        <a:defRPr sz="1000" b="0">
                          <a:latin typeface="Arial"/>
                        </a:defRPr>
                      </a:pPr>
                      <a:r>
                        <a:t>9.8 ms</a:t>
                      </a:r>
                    </a:p>
                  </a:txBody>
                  <a:tcPr anchor="ctr"/>
                </a:tc>
              </a:tr>
              <a:tr h="475488">
                <a:tc>
                  <a:txBody>
                    <a:bodyPr/>
                    <a:lstStyle/>
                    <a:p>
                      <a:pPr algn="l">
                        <a:defRPr sz="1000" b="1">
                          <a:solidFill>
                            <a:srgbClr val="1D4ED8"/>
                          </a:solidFill>
                          <a:latin typeface="Arial"/>
                        </a:defRPr>
                      </a:pPr>
                      <a:r>
                        <a:t>Full System (Hybrid + Cross-Encoder)</a:t>
                      </a:r>
                    </a:p>
                  </a:txBody>
                  <a:tcPr anchor="ctr">
                    <a:solidFill>
                      <a:srgbClr val="EEF2FF"/>
                    </a:solidFill>
                  </a:tcPr>
                </a:tc>
                <a:tc>
                  <a:txBody>
                    <a:bodyPr/>
                    <a:lstStyle/>
                    <a:p>
                      <a:pPr algn="ctr">
                        <a:defRPr sz="1000" b="1">
                          <a:solidFill>
                            <a:srgbClr val="1D4ED8"/>
                          </a:solidFill>
                          <a:latin typeface="Arial"/>
                        </a:defRPr>
                      </a:pPr>
                      <a:r>
                        <a:t>100.0%</a:t>
                      </a:r>
                    </a:p>
                  </a:txBody>
                  <a:tcPr anchor="ctr">
                    <a:solidFill>
                      <a:srgbClr val="EEF2FF"/>
                    </a:solidFill>
                  </a:tcPr>
                </a:tc>
                <a:tc>
                  <a:txBody>
                    <a:bodyPr/>
                    <a:lstStyle/>
                    <a:p>
                      <a:pPr algn="ctr">
                        <a:defRPr sz="1000" b="1">
                          <a:solidFill>
                            <a:srgbClr val="1D4ED8"/>
                          </a:solidFill>
                          <a:latin typeface="Arial"/>
                        </a:defRPr>
                      </a:pPr>
                      <a:r>
                        <a:t>100.0%</a:t>
                      </a:r>
                    </a:p>
                  </a:txBody>
                  <a:tcPr anchor="ctr">
                    <a:solidFill>
                      <a:srgbClr val="EEF2FF"/>
                    </a:solidFill>
                  </a:tcPr>
                </a:tc>
                <a:tc>
                  <a:txBody>
                    <a:bodyPr/>
                    <a:lstStyle/>
                    <a:p>
                      <a:pPr algn="ctr">
                        <a:defRPr sz="1000" b="1">
                          <a:solidFill>
                            <a:srgbClr val="1D4ED8"/>
                          </a:solidFill>
                          <a:latin typeface="Arial"/>
                        </a:defRPr>
                      </a:pPr>
                      <a:r>
                        <a:t>1.000</a:t>
                      </a:r>
                    </a:p>
                  </a:txBody>
                  <a:tcPr anchor="ctr">
                    <a:solidFill>
                      <a:srgbClr val="EEF2FF"/>
                    </a:solidFill>
                  </a:tcPr>
                </a:tc>
                <a:tc>
                  <a:txBody>
                    <a:bodyPr/>
                    <a:lstStyle/>
                    <a:p>
                      <a:pPr algn="ctr">
                        <a:defRPr sz="1000" b="1">
                          <a:solidFill>
                            <a:srgbClr val="1D4ED8"/>
                          </a:solidFill>
                          <a:latin typeface="Arial"/>
                        </a:defRPr>
                      </a:pPr>
                      <a:r>
                        <a:t>93.3%</a:t>
                      </a:r>
                    </a:p>
                  </a:txBody>
                  <a:tcPr anchor="ctr">
                    <a:solidFill>
                      <a:srgbClr val="EEF2FF"/>
                    </a:solidFill>
                  </a:tcPr>
                </a:tc>
                <a:tc>
                  <a:txBody>
                    <a:bodyPr/>
                    <a:lstStyle/>
                    <a:p>
                      <a:pPr algn="ctr">
                        <a:defRPr sz="1000" b="1">
                          <a:solidFill>
                            <a:srgbClr val="1D4ED8"/>
                          </a:solidFill>
                          <a:latin typeface="Arial"/>
                        </a:defRPr>
                      </a:pPr>
                      <a:r>
                        <a:t>61.4%</a:t>
                      </a:r>
                    </a:p>
                  </a:txBody>
                  <a:tcPr anchor="ctr">
                    <a:solidFill>
                      <a:srgbClr val="EEF2FF"/>
                    </a:solidFill>
                  </a:tcPr>
                </a:tc>
                <a:tc>
                  <a:txBody>
                    <a:bodyPr/>
                    <a:lstStyle/>
                    <a:p>
                      <a:pPr algn="ctr">
                        <a:defRPr sz="1000" b="1">
                          <a:solidFill>
                            <a:srgbClr val="1D4ED8"/>
                          </a:solidFill>
                          <a:latin typeface="Arial"/>
                        </a:defRPr>
                      </a:pPr>
                      <a:r>
                        <a:t>102.4 ms</a:t>
                      </a:r>
                    </a:p>
                  </a:txBody>
                  <a:tcPr anchor="ctr">
                    <a:solidFill>
                      <a:srgbClr val="EEF2FF"/>
                    </a:solidFill>
                  </a:tcPr>
                </a:tc>
              </a:tr>
            </a:tbl>
          </a:graphicData>
        </a:graphic>
      </p:graphicFrame>
      <p:sp>
        <p:nvSpPr>
          <p:cNvPr id="4" name="Rounded Rectangle 3"/>
          <p:cNvSpPr/>
          <p:nvPr/>
        </p:nvSpPr>
        <p:spPr>
          <a:xfrm>
            <a:off x="731520" y="4297680"/>
            <a:ext cx="10728655"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438912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370832"/>
            <a:ext cx="10362895" cy="365760"/>
          </a:xfrm>
          <a:prstGeom prst="rect">
            <a:avLst/>
          </a:prstGeom>
          <a:noFill/>
        </p:spPr>
        <p:txBody>
          <a:bodyPr wrap="square">
            <a:spAutoFit/>
          </a:bodyPr>
          <a:lstStyle/>
          <a:p>
            <a:pPr>
              <a:defRPr sz="1400" b="1">
                <a:solidFill>
                  <a:srgbClr val="1E293B"/>
                </a:solidFill>
                <a:latin typeface="Arial"/>
              </a:defRPr>
            </a:pPr>
            <a:r>
              <a:t>Key Analytical Insights from Ablation Study</a:t>
            </a:r>
          </a:p>
        </p:txBody>
      </p:sp>
      <p:sp>
        <p:nvSpPr>
          <p:cNvPr id="7" name="TextBox 6"/>
          <p:cNvSpPr txBox="1"/>
          <p:nvPr/>
        </p:nvSpPr>
        <p:spPr>
          <a:xfrm>
            <a:off x="914400" y="4754880"/>
            <a:ext cx="10362895" cy="1554480"/>
          </a:xfrm>
          <a:prstGeom prst="rect">
            <a:avLst/>
          </a:prstGeom>
          <a:noFill/>
        </p:spPr>
        <p:txBody>
          <a:bodyPr wrap="square">
            <a:spAutoFit/>
          </a:bodyPr>
          <a:lstStyle/>
          <a:p>
            <a:pPr>
              <a:defRPr sz="1050" b="1">
                <a:solidFill>
                  <a:srgbClr val="1E293B"/>
                </a:solidFill>
                <a:latin typeface="Arial"/>
              </a:defRPr>
            </a:pPr>
            <a:r>
              <a:t>• Perfect Top-Rank Retrieval (100% Hit@1, MRR=1.000): </a:t>
            </a:r>
          </a:p>
          <a:p>
            <a:pPr>
              <a:spcAft>
                <a:spcPts val="300"/>
              </a:spcAft>
              <a:defRPr sz="1000">
                <a:solidFill>
                  <a:srgbClr val="64748B"/>
                </a:solidFill>
                <a:latin typeface="Arial"/>
              </a:defRPr>
            </a:pPr>
            <a:r>
              <a:t>  All answerable queries successfully retrieved the exact ground truth document and page in Rank 1.</a:t>
            </a:r>
          </a:p>
          <a:p>
            <a:pPr>
              <a:defRPr sz="1050" b="1">
                <a:solidFill>
                  <a:srgbClr val="1E293B"/>
                </a:solidFill>
                <a:latin typeface="Arial"/>
              </a:defRPr>
            </a:pPr>
            <a:r>
              <a:t>• High Refusal Precision (93.3% Refusal Accuracy): </a:t>
            </a:r>
          </a:p>
          <a:p>
            <a:pPr>
              <a:spcAft>
                <a:spcPts val="300"/>
              </a:spcAft>
              <a:defRPr sz="1000">
                <a:solidFill>
                  <a:srgbClr val="64748B"/>
                </a:solidFill>
                <a:latin typeface="Arial"/>
              </a:defRPr>
            </a:pPr>
            <a:r>
              <a:t>  Both Bi-Encoder and Full System achieved 93.3% refusal accuracy on out-of-domain and unanswerable questions.</a:t>
            </a:r>
          </a:p>
          <a:p>
            <a:pPr>
              <a:defRPr sz="1050" b="1">
                <a:solidFill>
                  <a:srgbClr val="1E293B"/>
                </a:solidFill>
                <a:latin typeface="Arial"/>
              </a:defRPr>
            </a:pPr>
            <a:r>
              <a:t>• Sub-150ms Latency Across All Configurations: </a:t>
            </a:r>
          </a:p>
          <a:p>
            <a:pPr>
              <a:spcAft>
                <a:spcPts val="300"/>
              </a:spcAft>
              <a:defRPr sz="1000">
                <a:solidFill>
                  <a:srgbClr val="64748B"/>
                </a:solidFill>
                <a:latin typeface="Arial"/>
              </a:defRPr>
            </a:pPr>
            <a:r>
              <a:t>  Even with neural cross-encoder joint reranking, the complete pipeline executes in ~102ms, well within real-time limits.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8: RESULTS, EVALUATION, AND SCREENSHOTS</a:t>
            </a:r>
          </a:p>
          <a:p>
            <a:pPr>
              <a:spcAft>
                <a:spcPts val="200"/>
              </a:spcAft>
              <a:defRPr sz="2200" b="1">
                <a:solidFill>
                  <a:srgbClr val="1E293B"/>
                </a:solidFill>
                <a:latin typeface="Arial"/>
              </a:defRPr>
            </a:pPr>
            <a:r>
              <a:t>Performance Telemetry &amp; Guardrail Failure Analysis</a:t>
            </a:r>
          </a:p>
          <a:p>
            <a:pPr>
              <a:defRPr sz="1200">
                <a:solidFill>
                  <a:srgbClr val="64748B"/>
                </a:solidFill>
                <a:latin typeface="Arial"/>
              </a:defRPr>
            </a:pPr>
            <a:r>
              <a:t>Detailed latency breakdown and boundary condition analysis</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Latency Budget &amp; Computational Breakdown</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E293B"/>
                </a:solidFill>
                <a:latin typeface="Arial"/>
              </a:defRPr>
            </a:pPr>
            <a:r>
              <a:t>• Document Ingestion (Cold Start): </a:t>
            </a:r>
          </a:p>
          <a:p>
            <a:pPr>
              <a:spcAft>
                <a:spcPts val="600"/>
              </a:spcAft>
              <a:defRPr sz="1000">
                <a:solidFill>
                  <a:srgbClr val="64748B"/>
                </a:solidFill>
                <a:latin typeface="Arial"/>
              </a:defRPr>
            </a:pPr>
            <a:r>
              <a:t>  1.02 seconds total to parse 22 pages, generate 91 chunks, and encode all vectors into FAISS.</a:t>
            </a:r>
          </a:p>
          <a:p>
            <a:pPr>
              <a:defRPr sz="1100" b="1">
                <a:solidFill>
                  <a:srgbClr val="1E293B"/>
                </a:solidFill>
                <a:latin typeface="Arial"/>
              </a:defRPr>
            </a:pPr>
            <a:r>
              <a:t>• Dense Retrieval: </a:t>
            </a:r>
          </a:p>
          <a:p>
            <a:pPr>
              <a:spcAft>
                <a:spcPts val="600"/>
              </a:spcAft>
              <a:defRPr sz="1000">
                <a:solidFill>
                  <a:srgbClr val="64748B"/>
                </a:solidFill>
                <a:latin typeface="Arial"/>
              </a:defRPr>
            </a:pPr>
            <a:r>
              <a:t>  ~25 ms for query embedding and FAISS IndexFlatIP search.</a:t>
            </a:r>
          </a:p>
          <a:p>
            <a:pPr>
              <a:defRPr sz="1100" b="1">
                <a:solidFill>
                  <a:srgbClr val="1E293B"/>
                </a:solidFill>
                <a:latin typeface="Arial"/>
              </a:defRPr>
            </a:pPr>
            <a:r>
              <a:t>• BM25 Keyword Retrieval: </a:t>
            </a:r>
          </a:p>
          <a:p>
            <a:pPr>
              <a:spcAft>
                <a:spcPts val="600"/>
              </a:spcAft>
              <a:defRPr sz="1000">
                <a:solidFill>
                  <a:srgbClr val="64748B"/>
                </a:solidFill>
                <a:latin typeface="Arial"/>
              </a:defRPr>
            </a:pPr>
            <a:r>
              <a:t>  &lt; 1 ms using tokenized inverted index in RAM.</a:t>
            </a:r>
          </a:p>
          <a:p>
            <a:pPr>
              <a:defRPr sz="1100" b="1">
                <a:solidFill>
                  <a:srgbClr val="1E293B"/>
                </a:solidFill>
                <a:latin typeface="Arial"/>
              </a:defRPr>
            </a:pPr>
            <a:r>
              <a:t>• Cross-Encoder Reranking: </a:t>
            </a:r>
          </a:p>
          <a:p>
            <a:pPr>
              <a:spcAft>
                <a:spcPts val="600"/>
              </a:spcAft>
              <a:defRPr sz="1000">
                <a:solidFill>
                  <a:srgbClr val="64748B"/>
                </a:solidFill>
                <a:latin typeface="Arial"/>
              </a:defRPr>
            </a:pPr>
            <a:r>
              <a:t>  ~75 ms to score 12 candidate pairs with joint attention.</a:t>
            </a:r>
          </a:p>
          <a:p>
            <a:pPr>
              <a:defRPr sz="1100" b="1">
                <a:solidFill>
                  <a:srgbClr val="1E293B"/>
                </a:solidFill>
                <a:latin typeface="Arial"/>
              </a:defRPr>
            </a:pPr>
            <a:r>
              <a:t>• Grounded Answer Synthesis: </a:t>
            </a:r>
          </a:p>
          <a:p>
            <a:pPr>
              <a:spcAft>
                <a:spcPts val="600"/>
              </a:spcAft>
              <a:defRPr sz="1000">
                <a:solidFill>
                  <a:srgbClr val="64748B"/>
                </a:solidFill>
                <a:latin typeface="Arial"/>
              </a:defRPr>
            </a:pPr>
            <a:r>
              <a:t>  &lt; 2 ms to extract sentences and format citations.</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Error Analysis &amp; Edge Cases</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E293B"/>
                </a:solidFill>
                <a:latin typeface="Arial"/>
              </a:defRPr>
            </a:pPr>
            <a:r>
              <a:t>• Subtle In-Domain Unanswerability: </a:t>
            </a:r>
          </a:p>
          <a:p>
            <a:pPr>
              <a:spcAft>
                <a:spcPts val="600"/>
              </a:spcAft>
              <a:defRPr sz="1000">
                <a:solidFill>
                  <a:srgbClr val="64748B"/>
                </a:solidFill>
                <a:latin typeface="Arial"/>
              </a:defRPr>
            </a:pPr>
            <a:r>
              <a:t>  Questions sharing domain vocabulary with no direct policy clause (e.g., 'PhD weekend curfew') yield marginal scores. Tuning threshold tau from 0.15 to 0.20 resolved edge hallucinations.</a:t>
            </a:r>
          </a:p>
          <a:p>
            <a:pPr>
              <a:defRPr sz="1100" b="1">
                <a:solidFill>
                  <a:srgbClr val="1E293B"/>
                </a:solidFill>
                <a:latin typeface="Arial"/>
              </a:defRPr>
            </a:pPr>
            <a:r>
              <a:t>• Complex Condition Splitting: </a:t>
            </a:r>
          </a:p>
          <a:p>
            <a:pPr>
              <a:spcAft>
                <a:spcPts val="600"/>
              </a:spcAft>
              <a:defRPr sz="1000">
                <a:solidFill>
                  <a:srgbClr val="64748B"/>
                </a:solidFill>
                <a:latin typeface="Arial"/>
              </a:defRPr>
            </a:pPr>
            <a:r>
              <a:t>  Multi-condition clauses (e.g., condonation requires medical cert + $50 fee + HOD sign-off) require sufficient chunk size to avoid separating condition from consequence.</a:t>
            </a:r>
          </a:p>
          <a:p>
            <a:pPr>
              <a:defRPr sz="1100" b="1">
                <a:solidFill>
                  <a:srgbClr val="1E293B"/>
                </a:solidFill>
                <a:latin typeface="Arial"/>
              </a:defRPr>
            </a:pPr>
            <a:r>
              <a:t>• Lexical-Dense Discrepancy: </a:t>
            </a:r>
          </a:p>
          <a:p>
            <a:pPr>
              <a:spcAft>
                <a:spcPts val="600"/>
              </a:spcAft>
              <a:defRPr sz="1000">
                <a:solidFill>
                  <a:srgbClr val="64748B"/>
                </a:solidFill>
                <a:latin typeface="Arial"/>
              </a:defRPr>
            </a:pPr>
            <a:r>
              <a:t>  BM25 alone fails on queries with zero lexical overlap ('parent having child' vs 'primary caregiver parental leave'). Hybrid fusion completely eliminates this failure mode.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9: CONCLUSION AND FUTURE SCOPE</a:t>
            </a:r>
          </a:p>
          <a:p>
            <a:pPr>
              <a:spcAft>
                <a:spcPts val="200"/>
              </a:spcAft>
              <a:defRPr sz="2200" b="1">
                <a:solidFill>
                  <a:srgbClr val="1E293B"/>
                </a:solidFill>
                <a:latin typeface="Arial"/>
              </a:defRPr>
            </a:pPr>
            <a:r>
              <a:t>Project Summary &amp; Future Horizons</a:t>
            </a:r>
          </a:p>
          <a:p>
            <a:pPr>
              <a:defRPr sz="1200">
                <a:solidFill>
                  <a:srgbClr val="64748B"/>
                </a:solidFill>
                <a:latin typeface="Arial"/>
              </a:defRPr>
            </a:pPr>
            <a:r>
              <a:t>Key accomplishments, production readiness, and architectural extensions</a:t>
            </a:r>
          </a:p>
        </p:txBody>
      </p:sp>
      <p:sp>
        <p:nvSpPr>
          <p:cNvPr id="3" name="Rounded Rectangle 2"/>
          <p:cNvSpPr/>
          <p:nvPr/>
        </p:nvSpPr>
        <p:spPr>
          <a:xfrm>
            <a:off x="7315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4846320" cy="365760"/>
          </a:xfrm>
          <a:prstGeom prst="rect">
            <a:avLst/>
          </a:prstGeom>
          <a:noFill/>
        </p:spPr>
        <p:txBody>
          <a:bodyPr wrap="square">
            <a:spAutoFit/>
          </a:bodyPr>
          <a:lstStyle/>
          <a:p>
            <a:pPr>
              <a:defRPr sz="1400" b="1">
                <a:solidFill>
                  <a:srgbClr val="1E293B"/>
                </a:solidFill>
                <a:latin typeface="Arial"/>
              </a:defRPr>
            </a:pPr>
            <a:r>
              <a:t>Key Achievements &amp; Summary</a:t>
            </a:r>
          </a:p>
        </p:txBody>
      </p:sp>
      <p:sp>
        <p:nvSpPr>
          <p:cNvPr id="6" name="TextBox 5"/>
          <p:cNvSpPr txBox="1"/>
          <p:nvPr/>
        </p:nvSpPr>
        <p:spPr>
          <a:xfrm>
            <a:off x="914400" y="2194560"/>
            <a:ext cx="4846320" cy="3657600"/>
          </a:xfrm>
          <a:prstGeom prst="rect">
            <a:avLst/>
          </a:prstGeom>
          <a:noFill/>
        </p:spPr>
        <p:txBody>
          <a:bodyPr wrap="square">
            <a:spAutoFit/>
          </a:bodyPr>
          <a:lstStyle/>
          <a:p>
            <a:pPr>
              <a:defRPr sz="1100" b="1">
                <a:solidFill>
                  <a:srgbClr val="10B981"/>
                </a:solidFill>
                <a:latin typeface="Arial"/>
              </a:defRPr>
            </a:pPr>
            <a:r>
              <a:t>✔ Fully Working Implementation: </a:t>
            </a:r>
          </a:p>
          <a:p>
            <a:pPr>
              <a:spcAft>
                <a:spcPts val="500"/>
              </a:spcAft>
              <a:defRPr sz="1000">
                <a:solidFill>
                  <a:srgbClr val="1E293B"/>
                </a:solidFill>
                <a:latin typeface="Arial"/>
              </a:defRPr>
            </a:pPr>
            <a:r>
              <a:t>  End-to-end operational RAG pipeline with interactive GUI and robust CLI.</a:t>
            </a:r>
          </a:p>
          <a:p>
            <a:pPr>
              <a:defRPr sz="1100" b="1">
                <a:solidFill>
                  <a:srgbClr val="10B981"/>
                </a:solidFill>
                <a:latin typeface="Arial"/>
              </a:defRPr>
            </a:pPr>
            <a:r>
              <a:t>✔ Multi-Stage NLP Pipeline: </a:t>
            </a:r>
          </a:p>
          <a:p>
            <a:pPr>
              <a:spcAft>
                <a:spcPts val="500"/>
              </a:spcAft>
              <a:defRPr sz="1000">
                <a:solidFill>
                  <a:srgbClr val="1E293B"/>
                </a:solidFill>
                <a:latin typeface="Arial"/>
              </a:defRPr>
            </a:pPr>
            <a:r>
              <a:t>  Integrated page-aware parsing, recursive chunking, bi-encoder FAISS, BM25 hybrid search, and neural cross-encoder reranking.</a:t>
            </a:r>
          </a:p>
          <a:p>
            <a:pPr>
              <a:defRPr sz="1100" b="1">
                <a:solidFill>
                  <a:srgbClr val="10B981"/>
                </a:solidFill>
                <a:latin typeface="Arial"/>
              </a:defRPr>
            </a:pPr>
            <a:r>
              <a:t>✔ 100% Traceable Attributions: </a:t>
            </a:r>
          </a:p>
          <a:p>
            <a:pPr>
              <a:spcAft>
                <a:spcPts val="500"/>
              </a:spcAft>
              <a:defRPr sz="1000">
                <a:solidFill>
                  <a:srgbClr val="1E293B"/>
                </a:solidFill>
                <a:latin typeface="Arial"/>
              </a:defRPr>
            </a:pPr>
            <a:r>
              <a:t>  Every assertion accompanied by verifiable document and page references.</a:t>
            </a:r>
          </a:p>
          <a:p>
            <a:pPr>
              <a:defRPr sz="1100" b="1">
                <a:solidFill>
                  <a:srgbClr val="10B981"/>
                </a:solidFill>
                <a:latin typeface="Arial"/>
              </a:defRPr>
            </a:pPr>
            <a:r>
              <a:t>✔ Reliable Hallucination Shield: </a:t>
            </a:r>
          </a:p>
          <a:p>
            <a:pPr>
              <a:spcAft>
                <a:spcPts val="500"/>
              </a:spcAft>
              <a:defRPr sz="1000">
                <a:solidFill>
                  <a:srgbClr val="1E293B"/>
                </a:solidFill>
                <a:latin typeface="Arial"/>
              </a:defRPr>
            </a:pPr>
            <a:r>
              <a:t>  93.3% accuracy in declining out-of-domain and unanswerable queries.</a:t>
            </a:r>
          </a:p>
          <a:p>
            <a:pPr>
              <a:defRPr sz="1100" b="1">
                <a:solidFill>
                  <a:srgbClr val="10B981"/>
                </a:solidFill>
                <a:latin typeface="Arial"/>
              </a:defRPr>
            </a:pPr>
            <a:r>
              <a:t>✔ 100% Hit Rate@1: </a:t>
            </a:r>
          </a:p>
          <a:p>
            <a:pPr>
              <a:spcAft>
                <a:spcPts val="500"/>
              </a:spcAft>
              <a:defRPr sz="1000">
                <a:solidFill>
                  <a:srgbClr val="1E293B"/>
                </a:solidFill>
                <a:latin typeface="Arial"/>
              </a:defRPr>
            </a:pPr>
            <a:r>
              <a:t>  Demonstrated flawless top-rank retrieval on standardized domain benchmark test queries.</a:t>
            </a:r>
          </a:p>
        </p:txBody>
      </p:sp>
      <p:sp>
        <p:nvSpPr>
          <p:cNvPr id="7" name="Rounded Rectangle 6"/>
          <p:cNvSpPr/>
          <p:nvPr/>
        </p:nvSpPr>
        <p:spPr>
          <a:xfrm>
            <a:off x="6217920" y="1645920"/>
            <a:ext cx="521208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719072"/>
            <a:ext cx="4846320" cy="365760"/>
          </a:xfrm>
          <a:prstGeom prst="rect">
            <a:avLst/>
          </a:prstGeom>
          <a:noFill/>
        </p:spPr>
        <p:txBody>
          <a:bodyPr wrap="square">
            <a:spAutoFit/>
          </a:bodyPr>
          <a:lstStyle/>
          <a:p>
            <a:pPr>
              <a:defRPr sz="1400" b="1">
                <a:solidFill>
                  <a:srgbClr val="1E293B"/>
                </a:solidFill>
                <a:latin typeface="Arial"/>
              </a:defRPr>
            </a:pPr>
            <a:r>
              <a:t>Future Technical Enhancements</a:t>
            </a:r>
          </a:p>
        </p:txBody>
      </p:sp>
      <p:sp>
        <p:nvSpPr>
          <p:cNvPr id="10" name="TextBox 9"/>
          <p:cNvSpPr txBox="1"/>
          <p:nvPr/>
        </p:nvSpPr>
        <p:spPr>
          <a:xfrm>
            <a:off x="6400800" y="2194560"/>
            <a:ext cx="4846320" cy="3657600"/>
          </a:xfrm>
          <a:prstGeom prst="rect">
            <a:avLst/>
          </a:prstGeom>
          <a:noFill/>
        </p:spPr>
        <p:txBody>
          <a:bodyPr wrap="square">
            <a:spAutoFit/>
          </a:bodyPr>
          <a:lstStyle/>
          <a:p>
            <a:pPr>
              <a:defRPr sz="1100" b="1">
                <a:solidFill>
                  <a:srgbClr val="1D4ED8"/>
                </a:solidFill>
                <a:latin typeface="Arial"/>
              </a:defRPr>
            </a:pPr>
            <a:r>
              <a:t>🚀 Multi-Modal Document Parsing: </a:t>
            </a:r>
          </a:p>
          <a:p>
            <a:pPr>
              <a:spcAft>
                <a:spcPts val="500"/>
              </a:spcAft>
              <a:defRPr sz="1000">
                <a:solidFill>
                  <a:srgbClr val="1E293B"/>
                </a:solidFill>
                <a:latin typeface="Arial"/>
              </a:defRPr>
            </a:pPr>
            <a:r>
              <a:t>  Integrate Vision-Language Models (ColPali / Donut) for parsing scanned PDFs with complex visual tables and charts.</a:t>
            </a:r>
          </a:p>
          <a:p>
            <a:pPr>
              <a:defRPr sz="1100" b="1">
                <a:solidFill>
                  <a:srgbClr val="1D4ED8"/>
                </a:solidFill>
                <a:latin typeface="Arial"/>
              </a:defRPr>
            </a:pPr>
            <a:r>
              <a:t>🚀 Self-Reflective RAG (Self-RAG): </a:t>
            </a:r>
          </a:p>
          <a:p>
            <a:pPr>
              <a:spcAft>
                <a:spcPts val="500"/>
              </a:spcAft>
              <a:defRPr sz="1000">
                <a:solidFill>
                  <a:srgbClr val="1E293B"/>
                </a:solidFill>
                <a:latin typeface="Arial"/>
              </a:defRPr>
            </a:pPr>
            <a:r>
              <a:t>  Incorporate active retrieval triggers and critique tokens to dynamically re-query when initial context is insufficient.</a:t>
            </a:r>
          </a:p>
          <a:p>
            <a:pPr>
              <a:defRPr sz="1100" b="1">
                <a:solidFill>
                  <a:srgbClr val="1D4ED8"/>
                </a:solidFill>
                <a:latin typeface="Arial"/>
              </a:defRPr>
            </a:pPr>
            <a:r>
              <a:t>🚀 Graph-RAG Integration: </a:t>
            </a:r>
          </a:p>
          <a:p>
            <a:pPr>
              <a:spcAft>
                <a:spcPts val="500"/>
              </a:spcAft>
              <a:defRPr sz="1000">
                <a:solidFill>
                  <a:srgbClr val="1E293B"/>
                </a:solidFill>
                <a:latin typeface="Arial"/>
              </a:defRPr>
            </a:pPr>
            <a:r>
              <a:t>  Construct knowledge graphs linking institutional policies across departments for multi-hop regulatory reasoning.</a:t>
            </a:r>
          </a:p>
          <a:p>
            <a:pPr>
              <a:defRPr sz="1100" b="1">
                <a:solidFill>
                  <a:srgbClr val="1D4ED8"/>
                </a:solidFill>
                <a:latin typeface="Arial"/>
              </a:defRPr>
            </a:pPr>
            <a:r>
              <a:t>🚀 Context Compression: </a:t>
            </a:r>
          </a:p>
          <a:p>
            <a:pPr>
              <a:spcAft>
                <a:spcPts val="500"/>
              </a:spcAft>
              <a:defRPr sz="1000">
                <a:solidFill>
                  <a:srgbClr val="1E293B"/>
                </a:solidFill>
                <a:latin typeface="Arial"/>
              </a:defRPr>
            </a:pPr>
            <a:r>
              <a:t>  Deploy LLMLingua to compress retrieved prompt context, decreasing token costs while maximizing information density.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1097280"/>
          </a:xfrm>
          <a:prstGeom prst="rect">
            <a:avLst/>
          </a:prstGeom>
          <a:noFill/>
        </p:spPr>
        <p:txBody>
          <a:bodyPr wrap="square" lIns="0" tIns="0" rIns="0" bIns="0">
            <a:spAutoFit/>
          </a:bodyPr>
          <a:lstStyle/>
          <a:p>
            <a:pPr>
              <a:spcAft>
                <a:spcPts val="200"/>
              </a:spcAft>
              <a:defRPr sz="1000" b="1">
                <a:solidFill>
                  <a:srgbClr val="1D4ED8"/>
                </a:solidFill>
                <a:latin typeface="Arial"/>
              </a:defRPr>
            </a:pPr>
            <a:r>
              <a:t>SECTION 10: REFERENCES</a:t>
            </a:r>
          </a:p>
          <a:p>
            <a:pPr>
              <a:spcAft>
                <a:spcPts val="200"/>
              </a:spcAft>
              <a:defRPr sz="2200" b="1">
                <a:solidFill>
                  <a:srgbClr val="1E293B"/>
                </a:solidFill>
                <a:latin typeface="Arial"/>
              </a:defRPr>
            </a:pPr>
            <a:r>
              <a:t>Academic Literature &amp; Open-Source Citations</a:t>
            </a:r>
          </a:p>
          <a:p>
            <a:pPr>
              <a:defRPr sz="1200">
                <a:solidFill>
                  <a:srgbClr val="64748B"/>
                </a:solidFill>
                <a:latin typeface="Arial"/>
              </a:defRPr>
            </a:pPr>
            <a:r>
              <a:t>Key research publications and technical repositories grounding this project</a:t>
            </a:r>
          </a:p>
        </p:txBody>
      </p:sp>
      <p:sp>
        <p:nvSpPr>
          <p:cNvPr id="3" name="Rounded Rectangle 2"/>
          <p:cNvSpPr/>
          <p:nvPr/>
        </p:nvSpPr>
        <p:spPr>
          <a:xfrm>
            <a:off x="731520" y="1645920"/>
            <a:ext cx="10728655"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73152"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19072"/>
            <a:ext cx="10362895" cy="365760"/>
          </a:xfrm>
          <a:prstGeom prst="rect">
            <a:avLst/>
          </a:prstGeom>
          <a:noFill/>
        </p:spPr>
        <p:txBody>
          <a:bodyPr wrap="square">
            <a:spAutoFit/>
          </a:bodyPr>
          <a:lstStyle/>
          <a:p>
            <a:pPr>
              <a:defRPr sz="1400" b="1">
                <a:solidFill>
                  <a:srgbClr val="1E293B"/>
                </a:solidFill>
                <a:latin typeface="Arial"/>
              </a:defRPr>
            </a:pPr>
            <a:r>
              <a:t>Foundational Research Papers &amp; Frameworks</a:t>
            </a:r>
          </a:p>
        </p:txBody>
      </p:sp>
      <p:sp>
        <p:nvSpPr>
          <p:cNvPr id="6" name="TextBox 5"/>
          <p:cNvSpPr txBox="1"/>
          <p:nvPr/>
        </p:nvSpPr>
        <p:spPr>
          <a:xfrm>
            <a:off x="914400" y="2194560"/>
            <a:ext cx="10362895" cy="3657600"/>
          </a:xfrm>
          <a:prstGeom prst="rect">
            <a:avLst/>
          </a:prstGeom>
          <a:noFill/>
        </p:spPr>
        <p:txBody>
          <a:bodyPr wrap="square">
            <a:spAutoFit/>
          </a:bodyPr>
          <a:lstStyle/>
          <a:p>
            <a:pPr>
              <a:defRPr sz="1000" b="1">
                <a:solidFill>
                  <a:srgbClr val="1E293B"/>
                </a:solidFill>
                <a:latin typeface="Arial"/>
              </a:defRPr>
            </a:pPr>
            <a:r>
              <a:t>1. Lewis, P., et al. (2020). </a:t>
            </a:r>
          </a:p>
          <a:p>
            <a:pPr>
              <a:spcAft>
                <a:spcPts val="400"/>
              </a:spcAft>
              <a:defRPr sz="950">
                <a:solidFill>
                  <a:srgbClr val="64748B"/>
                </a:solidFill>
                <a:latin typeface="Arial"/>
              </a:defRPr>
            </a:pPr>
            <a:r>
              <a:t>   Retrieval-Augmented Generation for Knowledge-Intensive NLP Tasks. In Advances in Neural Information Processing Systems (NeurIPS 2020), 33, 9459-9474.</a:t>
            </a:r>
          </a:p>
          <a:p>
            <a:pPr>
              <a:defRPr sz="1000" b="1">
                <a:solidFill>
                  <a:srgbClr val="1E293B"/>
                </a:solidFill>
                <a:latin typeface="Arial"/>
              </a:defRPr>
            </a:pPr>
            <a:r>
              <a:t>2. Reimers, N., &amp; Gurevych, I. (2019). </a:t>
            </a:r>
          </a:p>
          <a:p>
            <a:pPr>
              <a:spcAft>
                <a:spcPts val="400"/>
              </a:spcAft>
              <a:defRPr sz="950">
                <a:solidFill>
                  <a:srgbClr val="64748B"/>
                </a:solidFill>
                <a:latin typeface="Arial"/>
              </a:defRPr>
            </a:pPr>
            <a:r>
              <a:t>   Sentence-BERT: Sentence Embeddings using Siamese BERT-Networks. In Proceedings of the 2019 Conference on Empirical Methods in Natural Language Processing (EMNLP 2019).</a:t>
            </a:r>
          </a:p>
          <a:p>
            <a:pPr>
              <a:defRPr sz="1000" b="1">
                <a:solidFill>
                  <a:srgbClr val="1E293B"/>
                </a:solidFill>
                <a:latin typeface="Arial"/>
              </a:defRPr>
            </a:pPr>
            <a:r>
              <a:t>3. Nogueira, R., &amp; Cho, K. (2019). </a:t>
            </a:r>
          </a:p>
          <a:p>
            <a:pPr>
              <a:spcAft>
                <a:spcPts val="400"/>
              </a:spcAft>
              <a:defRPr sz="950">
                <a:solidFill>
                  <a:srgbClr val="64748B"/>
                </a:solidFill>
                <a:latin typeface="Arial"/>
              </a:defRPr>
            </a:pPr>
            <a:r>
              <a:t>   Passage Re-ranking with BERT. arXiv preprint arXiv:1901.04085 (Cross-Encoder ms-marco architecture).</a:t>
            </a:r>
          </a:p>
          <a:p>
            <a:pPr>
              <a:defRPr sz="1000" b="1">
                <a:solidFill>
                  <a:srgbClr val="1E293B"/>
                </a:solidFill>
                <a:latin typeface="Arial"/>
              </a:defRPr>
            </a:pPr>
            <a:r>
              <a:t>4. Robertson, S., &amp; Zaragoza, H. (2009). </a:t>
            </a:r>
          </a:p>
          <a:p>
            <a:pPr>
              <a:spcAft>
                <a:spcPts val="400"/>
              </a:spcAft>
              <a:defRPr sz="950">
                <a:solidFill>
                  <a:srgbClr val="64748B"/>
                </a:solidFill>
                <a:latin typeface="Arial"/>
              </a:defRPr>
            </a:pPr>
            <a:r>
              <a:t>   The Probabilistic Relevance Framework: BM25 and Beyond. Foundations and Trends in Information Retrieval, 3(4), 333-389.</a:t>
            </a:r>
          </a:p>
          <a:p>
            <a:pPr>
              <a:defRPr sz="1000" b="1">
                <a:solidFill>
                  <a:srgbClr val="1E293B"/>
                </a:solidFill>
                <a:latin typeface="Arial"/>
              </a:defRPr>
            </a:pPr>
            <a:r>
              <a:t>5. Cormack, G. V., Clarke, C. L., &amp; Buettcher, S. (2009). </a:t>
            </a:r>
          </a:p>
          <a:p>
            <a:pPr>
              <a:spcAft>
                <a:spcPts val="400"/>
              </a:spcAft>
              <a:defRPr sz="950">
                <a:solidFill>
                  <a:srgbClr val="64748B"/>
                </a:solidFill>
                <a:latin typeface="Arial"/>
              </a:defRPr>
            </a:pPr>
            <a:r>
              <a:t>   Reciprocal Rank Fusion Outperforms Condorcet and Individual Rank Learning Methods. In Proceedings of the 32nd International ACM SIGIR Conference, 758-759.</a:t>
            </a:r>
          </a:p>
          <a:p>
            <a:pPr>
              <a:defRPr sz="1000" b="1">
                <a:solidFill>
                  <a:srgbClr val="1E293B"/>
                </a:solidFill>
                <a:latin typeface="Arial"/>
              </a:defRPr>
            </a:pPr>
            <a:r>
              <a:t>6. Johnson, J., Douze, M., &amp; Jégou, H. (2019). </a:t>
            </a:r>
          </a:p>
          <a:p>
            <a:pPr>
              <a:spcAft>
                <a:spcPts val="400"/>
              </a:spcAft>
              <a:defRPr sz="950">
                <a:solidFill>
                  <a:srgbClr val="64748B"/>
                </a:solidFill>
                <a:latin typeface="Arial"/>
              </a:defRPr>
            </a:pPr>
            <a:r>
              <a:t>   Billion-scale similarity search with GPUs (FAISS). IEEE Transactions on Big Data, 7(3), 535-547.</a:t>
            </a:r>
          </a:p>
          <a:p>
            <a:pPr>
              <a:defRPr sz="1000" b="1">
                <a:solidFill>
                  <a:srgbClr val="1E293B"/>
                </a:solidFill>
                <a:latin typeface="Arial"/>
              </a:defRPr>
            </a:pPr>
            <a:r>
              <a:t>7. Es, S., James, J., Espinosa-Anke, L., &amp; Schockaert, S. (2023). </a:t>
            </a:r>
          </a:p>
          <a:p>
            <a:pPr>
              <a:spcAft>
                <a:spcPts val="400"/>
              </a:spcAft>
              <a:defRPr sz="950">
                <a:solidFill>
                  <a:srgbClr val="64748B"/>
                </a:solidFill>
                <a:latin typeface="Arial"/>
              </a:defRPr>
            </a:pPr>
            <a:r>
              <a:t>   RAGAS: Automated Evaluation of Retrieval Augmented Generation. arXiv preprint arXiv:2309.15217.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