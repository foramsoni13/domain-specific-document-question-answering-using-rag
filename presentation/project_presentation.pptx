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10972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D4ED8"/>
                </a:solidFill>
                <a:latin typeface="Arial"/>
              </a:defRPr>
            </a:pPr>
            <a:r>
              <a:t>NATURAL LANGUAGE PROCESSING CAPSTONE • PROBLEM STATEMENT #9</a:t>
            </a:r>
          </a:p>
          <a:p>
            <a:pPr>
              <a:spcAft>
                <a:spcPts val="12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Domain-Specific Document Question Answering</a:t>
            </a:r>
            <a:br/>
            <a:r>
              <a:t>Using Retrieval-Augmented Generation (RAG)</a:t>
            </a:r>
          </a:p>
          <a:p>
            <a:pPr>
              <a:spcAft>
                <a:spcPts val="2800"/>
              </a:spcAft>
              <a:defRPr sz="1300">
                <a:solidFill>
                  <a:srgbClr val="334155"/>
                </a:solidFill>
                <a:latin typeface="Arial"/>
              </a:defRPr>
            </a:pPr>
            <a:r>
              <a:t>A Grounded Multi-Stage Architecture with Page-Aware Parsing, Dense-Sparse Hybrid Retrieval (FAISS + BM25), Neural Cross-Encoder Reranking, and Anti-Hallucination Refusal Guardrails.</a:t>
            </a:r>
          </a:p>
          <a:p>
            <a:pPr>
              <a:spcAft>
                <a:spcPts val="4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PROJECT CANDIDATE &amp; DETAILS:</a:t>
            </a:r>
          </a:p>
          <a:p>
            <a:pPr>
              <a:spcAft>
                <a:spcPts val="400"/>
              </a:spcAft>
              <a:defRPr sz="1400" b="1">
                <a:solidFill>
                  <a:srgbClr val="1D4ED8"/>
                </a:solidFill>
                <a:latin typeface="Arial"/>
              </a:defRPr>
            </a:pPr>
            <a:r>
              <a:t>Candidate Name &amp; Roll No:  202202519010079 - Foram Soni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Domain Focus: Institutional Policies, University Regulations &amp; Public Circulars</a:t>
            </a:r>
            <a:br/>
            <a:r>
              <a:t>Implementation: Python 3.12 • FAISS • Cross-Encoder • Streamlit Web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1: TITLE &amp; AUTHOR DETAILS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Overview &amp; Research Highlights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End-to-end engineered NLP solution delivering verifiable, page-cited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Candidate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202202519010079 - Foram Soni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End-to-end design of document parsing &amp; recursive chunking.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Implemented Dense FAISS indexing + BM25Okapi lexical retrieval.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Tuned Cross-Encoder neural reranker (ms-marco-MiniLM-L-6-v2).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Designed anti-hallucination confidence guardrails and Streamlit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4572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Core Problem 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Eliminating Manual Document Search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Institutional circulars and manuals are lengthy and dense.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Manual Ctrl+F fails to capture semantic and policy nuances.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Generic LLMs hallucinate numbers and lack page citations.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System gives instant, direct 1-sentence answers with exact page refs.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7472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1773936"/>
            <a:ext cx="54864" cy="21945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Key Architectural Feats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D28D9"/>
                </a:solidFill>
                <a:latin typeface="Arial"/>
              </a:defRPr>
            </a:pPr>
            <a:r>
              <a:t>Zero-Hallucination Guardrails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Hybrid Reciprocal Rank Fusion (RRF) for semantic + keyword precision.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Cross-Encoder joint attention boosts top-rank precision to 100%.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Refusal guardrail automatically declines unanswerable questions.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102 ms median retrieval latency for frictionless user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2: PROBLEM STATEMENT &amp; OBJECTIVES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Problem: Navigating Lengthy Institutional Documents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Information friction across university regulations, HR policies, and municipal circulars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Real-World Document Inefficiencies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Information Friction: Students, employees, and citizens regularly wade through 50+ page regulatory PDFs to verify basic rights, deadlines, and requirements.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Keyword Search Limitations: Traditional Ctrl+F fails when queries use conceptual synonyms (e.g., 'maternity leaves' vs 'primary caregiver parental duration').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Severe Hallucination Hazards: Using standard ChatGPT/LLMs risks fabricated regulations, nonexistent fees, and invented clauses that carry real institutional risk.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Lack of Verifiable Grounding: Without exact document and physical page references, users cannot verify policy statements or submit formal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High-Stakes Domain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🎓 University Academic Regulations:</a:t>
            </a:r>
            <a:br/>
            <a:r>
              <a:t>  Students need exact attendance thresholds (75%), condonation criteria (65%-74.9%), credit requirements (160), and disciplinary penalties.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💼 Corporate HR Handbooks:</a:t>
            </a:r>
            <a:br/>
            <a:r>
              <a:t>  Employees need clear clauses for probationary periods (6 months), paid parental leaves (16 weeks), 401(k) matching (5%), and bereavement days.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🏛️ Municipal Citizen Circulars:</a:t>
            </a:r>
            <a:br/>
            <a:r>
              <a:t>  Citizens seek rebate percentages on property tax (10% before June 30), building permit timelines (7-21 days), and public grievance SLAs.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2: PROBLEM STATEMENT &amp; OBJECTIVES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Objectives &amp; Technical Scope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Four concrete engineering pillars guiding the RAG system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Objective 1: Multi-Format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Accurate Ingestion &amp; Page Preservation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Parse PDF, DOCX, and TXT files while retaining exact physical page boundaries.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Normalize typography with Unicode NFKC normalization.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Implement sliding recursive chunking (700 chars / 150 overlap).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Objective 2: Hybrid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Semantic &amp; Exact-Keyword Fusion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Combine dense bi-encoder embeddings (all-MiniLM-L6-v2) for semantic intent.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Incorporate BM25Okapi sparse retrieval for exact codes, percentages, and IDs.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Fuse candidate rankings via Reciprocal Rank Fusion (RRF, k=60).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4151376"/>
            <a:ext cx="54864" cy="21945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Objective 3: Deep Neural Reranking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D28D9"/>
                </a:solidFill>
                <a:latin typeface="Arial"/>
              </a:defRPr>
            </a:pPr>
            <a:r>
              <a:t>Cross-Encoder Precision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Re-rank top candidates using ms-marco-MiniLM-L-6-v2 with full cross-attention.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Filter irrelevant distractors and calibrate relevance scores into [0, 1].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Achieve &gt;95% Hit@1 accuracy on domain-specific inquiries.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2512" y="4151376"/>
            <a:ext cx="54864" cy="21945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Objective 4: Hallucination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Transparent Refusals &amp; Exact Citations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Implement confidence thresholding (tau = 0.20) to detect out-of-domain queries.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Safely decline unanswerable questions rather than generating false facts.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Deliver direct, short 1-sentence answers with clickable page citations.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3: INTRODUCTION &amp; MOTIVATION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Why Vanilla LLMs Fail on Institutional Policies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The critical limitations of standalone Large Language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Limitations of Standalone LLMs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Parametric Knowledge Cutoffs:</a:t>
            </a:r>
            <a:br/>
            <a:r>
              <a:t>  Vanilla LLMs are static snapshots frozen at training time. They have zero awareness of an organization's updated 2025/2026 circulars.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Plausible Hallucinations:</a:t>
            </a:r>
            <a:br/>
            <a:r>
              <a:t>  When queried about specific institutional rules, models extrapolate plausible-sounding numbers that are factually wrong.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No Page-Level Provenance:</a:t>
            </a:r>
            <a:br/>
            <a:r>
              <a:t>  Standard models cannot tell a student 'See Page 2, Section 2.1'. Users cannot verify whether the policy statement is real.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Prohibitive Fine-Tuning Costs:</a:t>
            </a:r>
            <a:br/>
            <a:r>
              <a:t>  Fine-tuning models on daily institutional circulars is computationally expensive, slow, and prone to catastrophic forgetting.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The RAG Paradigm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✓ Dynamic Non-Parametric Memory:</a:t>
            </a:r>
            <a:br/>
            <a:r>
              <a:t>  RAG decouples institutional knowledge from neural weights. Any uploaded PDF is instantly searchable within 1.5 seconds.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✓ Deterministic Grounding:</a:t>
            </a:r>
            <a:br/>
            <a:r>
              <a:t>  Every synthesized answer is constrained exclusively to verified retrieved passages, eliminating hallucinations.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✓ Audit-Grade Provenance:</a:t>
            </a:r>
            <a:br/>
            <a:r>
              <a:t>  Answers cite the exact document name, page number, and clause heading, enabling instant regulatory compliance.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✓ Cost &amp; Energy Efficiency:</a:t>
            </a:r>
            <a:br/>
            <a:r>
              <a:t>  Runs locally on commodity CPUs or Apple Silicon MPS in ~100 ms without multimillion-dollar GPU server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3: INTRODUCTION &amp; MOTIVATION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Multi-Domain Institutional Applicability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Universal RAG framework adaptable to universities, enterprises, and municipalities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Higher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Document: University Regulations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Target Users: Undergrads, postgrads, faculty, registrars.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Key Queries: 75% attendance threshold, grade point formulas, re-examination dates, plagiarism expulsion thresholds.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Value Add: Eliminates thousands of repetitive front-desk queries during exam periods.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4572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Corporate Enterprises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Document: Employee HR Handbooks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Target Users: Full-time employees, managers, HR partners.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Key Queries: 16-week paid parental leave, 20-day PTO carryover rules, 5% 401(k) company matching, bereavement leave.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Value Add: Empowers employees with instant 24/7 self-service policy clarification.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7472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1773936"/>
            <a:ext cx="54864" cy="21945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Public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D28D9"/>
                </a:solidFill>
                <a:latin typeface="Arial"/>
              </a:defRPr>
            </a:pPr>
            <a:r>
              <a:t>Document: Municipal Citizen Circulars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Target Users: Homeowners, commercial builders, civic residents.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Key Queries: 10% property tax early settlement rebate, residential building sanction turnaround (7 days), water grievances.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Value Add: Democratizes public policy transparency and citizen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4: DATASET DESCRIPTION &amp; SOURCES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Curated Multi-Domain Regulatory Corpora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Synthetic yet high-fidelity documents spanning 3 distinct institutional sectors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Apex Technical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university_academic_regulations_2025.pdf</a:t>
            </a:r>
          </a:p>
          <a:p>
            <a:pPr>
              <a:spcAft>
                <a:spcPts val="8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4 Pages • PDF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1: Academic Degrees &amp; Minimum Credits (160 credits, 8.0 CGPA honors).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2: Attendance Requirements (75% mandatory, 65%-74.9% medical condonation).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3: Grading &amp; SGPA/CGPA Evaluation Schemes (10-point relative scale).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4: Examination Malpractice &amp; Plagiarism Penalties (Level 1 to Level 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NexaCorp Global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nexacorp_employee_handbook_2025.docx</a:t>
            </a:r>
          </a:p>
          <a:p>
            <a:pPr>
              <a:spcAft>
                <a:spcPts val="8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4 Pages • DOCX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1: Employment Terms &amp; Probationary Assessment (6 months review).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2: Working Hours, Remote Work &amp; Travel Expense Allowances ($75/day).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3: Comprehensive Leave Policies (20 days PTO, 16 weeks parental leave).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4: Benefits, 401(k) Matching (5%), Health Insurance &amp; Wellness.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Metro City Municipal Corporation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metro_city_municipal_circular_2025.txt</a:t>
            </a:r>
          </a:p>
          <a:p>
            <a:pPr>
              <a:spcAft>
                <a:spcPts val="8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3 Pages • TXT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1: Property Tax Schedules &amp; Rebates (10% early rebate before June 30th).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2: Building Sanction Approval Guidelines (Residential 7 days, Commercial 21 days).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Arial"/>
              </a:defRPr>
            </a:pPr>
            <a:r>
              <a:t>• Section 3: Trade Licensing &amp; Public Grievance Redressal Escalation SLAs (1800-444-MCMC).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4: DATASET DESCRIPTION &amp; SOURCES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Document Preprocessing &amp; Chunking Strategy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Recursive Character Chunking with boundary preservation and metadata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Step 1: Multi-Format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pypdfium2 / PyPDF2 / docx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Extracts raw text while preserving physical page boundaries.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Normalizes typography with Unicode NFKC (cleans ligatures, smart quotes, special dashes).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Associates each text segment with filename and page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Step 2: Recursive Boundary Chunking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700 Chars / 150 Char Overlap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Splits text hierarchically: paragraph breaks (\n\n) -&gt; line breaks (\n) -&gt; sentences (.) -&gt; words.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Tuned chunk size (700 chars) ensures complete policy clauses fit in a single chunk.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150 character overlap prevents loss of context across chunk borders.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1773936"/>
            <a:ext cx="54864" cy="21945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Step 3: Chunk Metadata Enrichment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D28D9"/>
                </a:solidFill>
                <a:latin typeface="Arial"/>
              </a:defRPr>
            </a:pPr>
            <a:r>
              <a:t>Self-Contained Retrieval Units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Generates unique chunk IDs: doc_name_p2_c003.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Attaches physical page number and character span indices.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Prepares clean chunk units ready for dual vector and lexical indexing.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5: NLP TECHNIQUES &amp; ALGORITHMS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Dual-Track Hybrid Retrieval: Dense + Sparse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Combining conceptual semantic comprehension with exact lexical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Dense Semantic Retrieval (FAISS)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Bi-Encoder Model:</a:t>
            </a:r>
            <a:br/>
            <a:r>
              <a:t>  sentence-transformers/all-MiniLM-L6-v2 (384-dimensional dense embeddings).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Semantic Matching:</a:t>
            </a:r>
            <a:br/>
            <a:r>
              <a:t>  Captures paraphrased and conceptual questions (e.g., 'rules for missing classes' -&gt; 'attendance condonation').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L2 Normalization &amp; IndexFlatIP:</a:t>
            </a:r>
            <a:br/>
            <a:r>
              <a:t>  Embeddings are normalized such that Inner Product equals Cosine Similarity: sim(q, d) = &lt;q, d&gt;.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Speed &amp; Efficiency:</a:t>
            </a:r>
            <a:br/>
            <a:r>
              <a:t>  Sub-25 ms vector search over thousands of document passages.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Sparse Lexical Retrieval (BM25Okapi)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Term Frequency &amp; Document Frequency:</a:t>
            </a:r>
            <a:br/>
            <a:r>
              <a:t>  Scores exact regulatory codes, section numbers, percentages (75%), and hotlines.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Saturating Term Weighting:</a:t>
            </a:r>
            <a:br/>
            <a:r>
              <a:t>  Formula: BM25(D, Q) = sum IDF(q_i) * (TF * (k1 + 1)) / (TF + k1 * (1 - b + b * (|D| / avgdl))).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Zero Synonym Confusion:</a:t>
            </a:r>
            <a:br/>
            <a:r>
              <a:t>  Ensures exact alphanumeric tokens (e.g., '1800-444-MCMC' or 'Section 2.2') are never missed.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Sub-millisecond Latency:</a:t>
            </a:r>
            <a:br/>
            <a:r>
              <a:t>  In-memory inverted index queries in ~0.3 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5: NLP TECHNIQUES &amp; ALGORITHMS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Rank Fusion (RRF) &amp; Neural Cross-Encoder Reranking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Elevating candidate precision and calibrating confidence scores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Reciprocal Rank Fusion (RRF)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Score-Agnostic Merging:</a:t>
            </a:r>
            <a:br/>
            <a:r>
              <a:t>  Dense cosine similarities and BM25 scores have different distributions. RRF merges them strictly by rank position.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Mathematical Formulation:</a:t>
            </a:r>
            <a:br/>
            <a:r>
              <a:t>  RRF_Score(d) = sum_{m in {dense, sparse}} 1 / (k + rank_m(d)), with smoothing parameter k = 60.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Normalizing to [0, 1]:</a:t>
            </a:r>
            <a:br/>
            <a:r>
              <a:t>  Raw RRF scores are normalized by the theoretical maximum (2 / (k + 1)) so they scale cleanly into standard probability metrics.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Robustness Guarantee:</a:t>
            </a:r>
            <a:br/>
            <a:r>
              <a:t>  Prevents any single retrieval channel from dominating or distorting candidate rankings.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Neural Cross-Encoder Reranking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Architecture:</a:t>
            </a:r>
            <a:br/>
            <a:r>
              <a:t>  cross-encoder/ms-marco-MiniLM-L-6-v2.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Full Joint Cross-Attention:</a:t>
            </a:r>
            <a:br/>
            <a:r>
              <a:t>  Unlike bi-encoders which encode query and passage independently, Cross-Encoder passes [CLS] Query [SEP] Passage [SEP] through all self-attention layers.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Calibrated Confidence:</a:t>
            </a:r>
            <a:br/>
            <a:r>
              <a:t>  Raw logits are passed through a sigmoid function sigma(z) = 1 / (1 + e^{-z}) to produce a well-calibrated confidence probability.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Impact on Accuracy:</a:t>
            </a:r>
            <a:br/>
            <a:r>
              <a:t>  Filters deceptive keyword overlap and elevates the single most relevant regulatory clause to Rank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6: SYSTEM ARCHITECTURE &amp; WORKFLOW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End-to-End Grounded RAG Pipeline Architecture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streamlined 5-stage workflow from ingestion to page-cited answer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Stage 1: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Document Parsing</a:t>
            </a:r>
          </a:p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Extracts text from PDF/DOCX/TXT with physical page numbers. Normalizes unicode characters.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Stage 2: Chunking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Recursive Overlap</a:t>
            </a:r>
          </a:p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Chunks into 700-character units with 150-character boundary overlap. Stores chunk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747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Stage 3: Hybrid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FAISS + BM25Okapi</a:t>
            </a:r>
          </a:p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Runs dual parallel search (dense semantic vectors + sparse keywords). Fuses ranks via RRF (k=60).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415137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Stage 4: Reranking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Cross-Encoder</a:t>
            </a:r>
          </a:p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Joint self-attention scores top candidates. Calibrates confidence probabilities via sigmoid activation.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023360"/>
            <a:ext cx="34747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35424" y="415137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4114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Stage 5: Synthesis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5262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Guardrail &amp; Citations</a:t>
            </a:r>
          </a:p>
          <a:p>
            <a:pPr>
              <a:defRPr sz="1000">
                <a:solidFill>
                  <a:srgbClr val="334155"/>
                </a:solidFill>
                <a:latin typeface="Arial"/>
              </a:defRPr>
            </a:pPr>
            <a:r>
              <a:t>Applies refusal threshold (tau = 0.20). Synthesizes short 1-sentence answer with exact [Doc, Page X] citation.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6: SYSTEM ARCHITECTURE &amp; WORKFLOW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Anti-Hallucination Guardrails &amp; Refusal Protocol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Deterministic decision mechanism declining out-of-domain and unanswerable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Dual Guardrail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Layer 1: Calibrated Confidence Thresholding:</a:t>
            </a:r>
            <a:br/>
            <a:r>
              <a:t>  The top reranked passage score is compared against refusal threshold tau = 0.20. If confidence &lt; 0.20, the query is declared ungrounded.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Layer 2: Named Entity &amp; Lexical Overlap Check:</a:t>
            </a:r>
            <a:br/>
            <a:r>
              <a:t>  Verifies that core query terms share substantive lexical or semantic overlap with the retrieved passage to catch adversarial distractors.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Zero Hallucination Generation:</a:t>
            </a:r>
            <a:br/>
            <a:r>
              <a:t>  Rather than fabricating an answer, the system immediately returns a structured refusal object stating exact reasoning.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Evaluation Verified:</a:t>
            </a:r>
            <a:br/>
            <a:r>
              <a:t>  Demonstrates 100.0% Refusal Accuracy across benchmark tests (e.g., questions about Australian capital or FIFA World Cup).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Refusal Decision Flowchart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1. User Query Submitted</a:t>
            </a:r>
            <a:br/>
            <a:r>
              <a:t>  -&gt; Query is processed and sent to hybrid search.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2. Hybrid Candidate Fusion</a:t>
            </a:r>
            <a:br/>
            <a:r>
              <a:t>  -&gt; Top passages ranked via RRF.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3. Cross-Encoder Joint Scoring</a:t>
            </a:r>
            <a:br/>
            <a:r>
              <a:t>  -&gt; Candidate passages scored into probabilities.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4. Confidence Check (Score &gt;= 0.20?)</a:t>
            </a:r>
            <a:br/>
            <a:r>
              <a:t>  -&gt; IF NO: Safe Refusal Triggered (Question Outside Scope).</a:t>
            </a:r>
            <a:br/>
            <a:r>
              <a:t>-&gt; IF YES: Grounded Answer Synthesized.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5. Output Generation</a:t>
            </a:r>
            <a:br/>
            <a:r>
              <a:t>  -&gt; Short direct 1-sentence answer displayed with verified [Doc, Page] badge.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7: IMPLEMENTATION &amp; TOOLS USED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Engineering Technology Stack &amp; Libraries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Production-grade open-source components chosen for performance and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Python 3.12 &amp;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Core Computational Runtime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Modern Python runtime with PyTorch utilizing Apple Silicon MPS (Metal Performance Shaders) for GPU acceleration with seamless CPU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Hugging Face &amp; Transformers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48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Neural Embedding &amp; Reranking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sentence-transformers wrapper for all-MiniLM-L6-v2 and ms-marco-MiniLM-L-6-v2 delivering high semantic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747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1773936"/>
            <a:ext cx="54864" cy="21945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FAISS &amp; rank-bm25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48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D28D9"/>
                </a:solidFill>
                <a:latin typeface="Arial"/>
              </a:defRPr>
            </a:pPr>
            <a:r>
              <a:t>High-Performance Indexing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Facebook AI Similarity Search (IndexFlatIP) for L2 inner product search combined with rank-bm25 for lexical matching.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747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4151376"/>
            <a:ext cx="54864" cy="21945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pypdfium2 &amp; python-docx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Robust Document Parsers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Fast, memory-efficient PDF parsing engine tracking physical page boundaries, paired with python-docx for Office documents.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023360"/>
            <a:ext cx="34747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35424" y="415137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4114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Streamlit Web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5262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Interactive User Interface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Clean, minimalist web UI with KPI metrics, document inspector, interactive search, and responsive latency telemetry.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4023360"/>
            <a:ext cx="34747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74736" y="415137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1148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PyTest &amp; Pandas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45262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Testing &amp; Benchmark Analytics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Standardized test suite covering 7 unit test cases and comparative ablation analytics saved to structured JSON.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7: IMPLEMENTATION &amp; TOOLS USED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Modular Software Architecture &amp; Project Structure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Strict separation of concerns across data loaders, retrieval engines, and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Repository Architecture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nlp/</a:t>
            </a:r>
            <a:br/>
            <a:r>
              <a:t>├── src/</a:t>
            </a:r>
            <a:br/>
            <a:r>
              <a:t>│   ├── document_loader.py   # Multi-format page-aware parser</a:t>
            </a:r>
            <a:br/>
            <a:r>
              <a:t>│   ├── chunker.py           # Recursive chunker (700c / 150o)</a:t>
            </a:r>
            <a:br/>
            <a:r>
              <a:t>│   ├── embeddings.py        # SentenceTransformer wrapper</a:t>
            </a:r>
            <a:br/>
            <a:r>
              <a:t>│   ├── vector_store.py      # FAISS IndexFlatIP index</a:t>
            </a:r>
            <a:br/>
            <a:r>
              <a:t>│   ├── retriever.py         # Dense, BM25 &amp; Hybrid RRF</a:t>
            </a:r>
            <a:br/>
            <a:r>
              <a:t>│   ├── reranker.py          # Cross-Encoder (ms-marco)</a:t>
            </a:r>
            <a:br/>
            <a:r>
              <a:t>│   ├── guardrails.py        # Hallucination refusal logic</a:t>
            </a:r>
            <a:br/>
            <a:r>
              <a:t>│   ├── rag_engine.py        # Central query orchestrator</a:t>
            </a:r>
            <a:br/>
            <a:r>
              <a:t>│   └── metrics.py           # Evaluation framework</a:t>
            </a:r>
            <a:br/>
            <a:r>
              <a:t>├── data/raw/                # 3 regulatory benchmark documents</a:t>
            </a:r>
            <a:br/>
            <a:r>
              <a:t>├── presentation/            # 20-slide PPTX &amp; presentation notes</a:t>
            </a:r>
            <a:br/>
            <a:r>
              <a:t>├── app.py                   # Streamlit web UI (Direct runner)</a:t>
            </a:r>
            <a:br/>
            <a:r>
              <a:t>├── main.py                  # CLI query &amp; interactive interface</a:t>
            </a:r>
            <a:br/>
            <a:r>
              <a:t>├── evaluate.py              # Comparative ablation runner</a:t>
            </a:r>
            <a:br/>
            <a:r>
              <a:t>└── tests/                   # PyTest verification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Execution Commands &amp; 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  <a:latin typeface="Arial"/>
              </a:defRPr>
            </a:pPr>
            <a:r>
              <a:t>• 1. Launch Web Application:</a:t>
            </a:r>
            <a:br/>
            <a:r>
              <a:t>  python3 app.py</a:t>
            </a:r>
            <a:br/>
            <a:r>
              <a:t>Automatically launches Streamlit UI on http://localhost:8502.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  <a:latin typeface="Arial"/>
              </a:defRPr>
            </a:pPr>
            <a:r>
              <a:t>• 2. Run Interactive CLI Mode:</a:t>
            </a:r>
            <a:br/>
            <a:r>
              <a:t>  python3 main.py --interactive</a:t>
            </a:r>
            <a:br/>
            <a:r>
              <a:t>Query documents directly from the terminal with real-time citations.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  <a:latin typeface="Arial"/>
              </a:defRPr>
            </a:pPr>
            <a:r>
              <a:t>• 3. Run Comparative Benchmarks:</a:t>
            </a:r>
            <a:br/>
            <a:r>
              <a:t>  python3 evaluate.py</a:t>
            </a:r>
            <a:br/>
            <a:r>
              <a:t>Runs full 15-query ablation study across Dense, Sparse, Hybrid &amp; Reranker.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  <a:latin typeface="Arial"/>
              </a:defRPr>
            </a:pPr>
            <a:r>
              <a:t>• 4. Run Automated Test Suite:</a:t>
            </a:r>
            <a:br/>
            <a:r>
              <a:t>  pytest tests/ -v</a:t>
            </a:r>
            <a:br/>
            <a:r>
              <a:t>Runs 7 automated unit tests covering chunking, indexing, retrieval, and guardrails.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8: RESULTS &amp; EVALUATION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Quantitative Evaluation Metrics &amp; Performance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Empirical validation across 15 standardized domain benchmark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59669"/>
                </a:solidFill>
                <a:latin typeface="Arial"/>
              </a:defRPr>
            </a:pPr>
            <a:r>
              <a:t>100.0%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Top-Rank Hit Rate (Hit@1)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Every answerable query retrieved the ground-truth policy passage at Rank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210312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D4ED8"/>
                </a:solidFill>
                <a:latin typeface="Arial"/>
              </a:defRPr>
            </a:pPr>
            <a:r>
              <a:t>1.000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Mean Reciprocal Rank (MRR)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Perfect ranking reciprocal score with zero positional decay across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210312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6D28D9"/>
                </a:solidFill>
                <a:latin typeface="Arial"/>
              </a:defRPr>
            </a:pPr>
            <a:r>
              <a:t>100.0%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Refusal Accuracy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Zero hallucinations on out-of-domain questions; 100% declined safely.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210312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D97706"/>
                </a:solidFill>
                <a:latin typeface="Arial"/>
              </a:defRPr>
            </a:pPr>
            <a:r>
              <a:t>102 ms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Average Retrieval Latency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Blazing fast real-time response enabling fluid conversational interaction.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8: RESULTS &amp; EVALUATION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Comparative Ablation Study Across Retrieval Strategies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Proving the empirical superiority of the Hybrid + Neural Cross-Encoder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463040"/>
                <a:gridCol w="1371600"/>
                <a:gridCol w="1645920"/>
                <a:gridCol w="1645920"/>
              </a:tblGrid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Retrieval Pipeline Strategy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Hit Rate@1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Hit Rate@3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Refusal Acc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Dense Semantic Only (Bi-Encoder)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23.6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Sparse Lexical Only (BM25Okapi)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Hybrid (Dense + BM25 RRF)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9.3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Full System (Hybrid + Cross-Encoder)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210.2 ms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8: RESULTS &amp; EVALUATION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Interactive Streamlit Web UI Demonstration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Live application screenshots verifying easy layout, short answers, and citations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Verified Short Answer Card</a:t>
            </a:r>
          </a:p>
        </p:txBody>
      </p:sp>
      <p:pic>
        <p:nvPicPr>
          <p:cNvPr id="7" name="Picture 6" descr="attendanc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846320" cy="26957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Interactive Web Application Interface</a:t>
            </a:r>
          </a:p>
        </p:txBody>
      </p:sp>
      <p:pic>
        <p:nvPicPr>
          <p:cNvPr id="11" name="Picture 10" descr="hero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4846320" cy="25859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9: CONCLUSION &amp; FUTURE SCOPE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Conclusions &amp; Technical Takeaways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Summary of completed capstone objectives and engineering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1. Eliminating Information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Instant Answers in ~100 ms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Replaced arduous manual reading of 50-page regulatory circulars with instantaneous query resolution.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Users obtain direct 1-sentence answers without reading irrelevant filler paragraphs.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Proven across academic, corporate HR, and municipal public service domains.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2. Proven Anti-Hallucination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100.0% Refusal Accuracy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Overcame the chief flaw of standard generative AI: hallucination of numbers and false regulations.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Calibrated confidence thresholding safely blocks out-of-scope inquiries.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Ensures strict institutional safety, trustworthiness, and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1773936"/>
            <a:ext cx="54864" cy="21945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3. Full Source Traceability &amp; 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D28D9"/>
                </a:solidFill>
                <a:latin typeface="Arial"/>
              </a:defRPr>
            </a:pPr>
            <a:r>
              <a:t>Verifiable Physical Page Citations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Every output explicitly attributes the document name and page number.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Allows students and employees to cite exact clauses in formal applications and appeals.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Complete auditability builds trust between institutions and stakeholders.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9: CONCLUSION &amp; FUTURE SCOPE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Future Roadmap &amp; Technical Enhancements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Extending system capabilities for large-scale enterprise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Phase 1: Multimodal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D4ED8"/>
                </a:solidFill>
                <a:latin typeface="Arial"/>
              </a:defRPr>
            </a:pPr>
            <a:r>
              <a:t>Tables, Flowcharts &amp; Scanned Forms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Integrate Vision-Language Models (e.g., ColPali, Florence-2) to parse complex salary grids and fee schedules.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OCR pipeline for historical scanned circulars.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Table structure preservation using Markdown/HTML representations.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773936"/>
            <a:ext cx="54864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Phase 2: Conversational Multi-Turn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9669"/>
                </a:solidFill>
                <a:latin typeface="Arial"/>
              </a:defRPr>
            </a:pPr>
            <a:r>
              <a:t>Coreference Resolution &amp; Chat Memory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Track conversation history across turns (e.g., 'What about second year?' following an attendance question).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Rewrite context-dependent queries into standalone retrieval strings.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Session-based caching for frequent user inquiries.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1773936"/>
            <a:ext cx="54864" cy="219456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737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Phase 3: Multilingual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488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D28D9"/>
                </a:solidFill>
                <a:latin typeface="Arial"/>
              </a:defRPr>
            </a:pPr>
            <a:r>
              <a:t>Low-Resource Indic Languages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Incorporate multilingual sentence encoders (e.g., multilingual-e5-large).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Allow citizens and students to query in Hindi, Gujarati, Tamil, etc., while referencing English circulars.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• Cross-lingual retrieval and localized speech synthesis.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SECTION 10: REFERENCES &amp; CITATIONS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Academic References &amp; Foundational Literature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Seminal papers establishing modern Retrieval-Augmented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773936"/>
            <a:ext cx="54864" cy="219456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714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Academic References &amp;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1. Lewis, P., et al. (2020). Retrieval-Augmented Generation for Knowledge-Intensive NLP Tasks. In Advances in Neural Information Processing Systems (NeurIPS 2020). [Introduced the foundational RAG paradigm].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2. Reimers, N., &amp; Gurevych, I. (2019). Sentence-BERT: Sentence Embeddings using Siamese BERT-Networks. In Proceedings of EMNLP-IJCNLP 2019. [Dense vector bi-encoder sentence representations].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3. Robertson, S., &amp; Zaragoza, H. (2009). The Probabilistic Relevance Framework: BM25 and Beyond. Foundations and Trends in Information Retrieval, 3(4), 333-389. [BM25 sparse ranking function].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4. Cormack, G. V., Clarke, C. L., &amp; Buettcher, S. (2009). Reciprocal Rank Fusion Outperforms Condorcet and Individual Rank Learning Methods. In Proceedings of ACM SIGIR 2009. [RRF multi-retriever fusion].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5. Nogueira, R., &amp; Cho, K. (2019). Passage Re-ranking with BERT. arXiv preprint arXiv:1901.04085. [Cross-Encoder deep joint attention for passage reranking].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6. Johnson, J., Douze, M., &amp; Jégou, H. (2019). Billion-scale similarity search with GPUs. IEEE Transactions on Big Data, 7(3), 535-547. [FAISS vector indexing].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